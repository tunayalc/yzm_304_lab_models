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51"/>
  </p:normalViewPr>
  <p:slideViewPr>
    <p:cSldViewPr snapToGrid="0">
      <p:cViewPr varScale="1">
        <p:scale>
          <a:sx n="88" d="100"/>
          <a:sy n="88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F1CE21B-BD03-4680-AB00-9C1FEC1CF8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-marker">
            <a:extLst>
              <a:ext uri="{FF2B5EF4-FFF2-40B4-BE49-F238E27FC236}">
                <a16:creationId xmlns:a16="http://schemas.microsoft.com/office/drawing/2014/main" id="{CDBE913C-B728-4A25-B14D-995469395551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F8753-CFF7-4DCF-ADF3-330186E05D4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6858000" cy="1390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IMDb Film Yorumlarında</a:t>
            </a:r>
          </a:p>
          <a:p>
            <a:pPr algn="l"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Duygu Analizi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FD2031-AB84-491F-857D-8DFAFEB9D554}"/>
              </a:ext>
            </a:extLst>
          </p:cNvPr>
          <p:cNvSpPr>
            <a:spLocks noGrp="1"/>
          </p:cNvSpPr>
          <p:nvPr/>
        </p:nvSpPr>
        <p:spPr>
          <a:xfrm>
            <a:off x="590550" y="2857500"/>
            <a:ext cx="666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Önişleme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teknikleri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temsil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yöntemleri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model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mimarilerinin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deneysel</a:t>
            </a:r>
            <a:r>
              <a:rPr sz="938" b="0" dirty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karşılaştırması</a:t>
            </a:r>
            <a:endParaRPr sz="938" b="0" dirty="0">
              <a:solidFill>
                <a:srgbClr val="DCE4ED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C3AC2E-86BA-4311-AE77-604382E17568}"/>
              </a:ext>
            </a:extLst>
          </p:cNvPr>
          <p:cNvSpPr>
            <a:spLocks noGrp="1"/>
          </p:cNvSpPr>
          <p:nvPr/>
        </p:nvSpPr>
        <p:spPr>
          <a:xfrm>
            <a:off x="7639050" y="1123950"/>
            <a:ext cx="3390900" cy="2362200"/>
          </a:xfrm>
          <a:prstGeom prst="rect">
            <a:avLst/>
          </a:prstGeom>
          <a:solidFill>
            <a:srgbClr val="1A2530"/>
          </a:solidFill>
          <a:ln w="9525">
            <a:solidFill>
              <a:srgbClr val="34415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250860-3F19-4AA7-9E9D-482803B81D62}"/>
              </a:ext>
            </a:extLst>
          </p:cNvPr>
          <p:cNvSpPr>
            <a:spLocks noGrp="1"/>
          </p:cNvSpPr>
          <p:nvPr/>
        </p:nvSpPr>
        <p:spPr>
          <a:xfrm>
            <a:off x="7905750" y="14097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endParaRPr lang="tr-TR" sz="750" b="1" dirty="0">
              <a:solidFill>
                <a:srgbClr val="AEB8C5"/>
              </a:solidFill>
              <a:latin typeface="Avenir Next"/>
              <a:ea typeface="Avenir Next"/>
              <a:cs typeface="Avenir Next"/>
            </a:endParaRPr>
          </a:p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AEB8C5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338CF-DE0D-4AA3-A3E1-48A425569326}"/>
              </a:ext>
            </a:extLst>
          </p:cNvPr>
          <p:cNvSpPr>
            <a:spLocks noGrp="1"/>
          </p:cNvSpPr>
          <p:nvPr/>
        </p:nvSpPr>
        <p:spPr>
          <a:xfrm>
            <a:off x="7905750" y="1733550"/>
            <a:ext cx="27241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Hangi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önişleme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ve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model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seçimi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daha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güvenilir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sentiment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tahmini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800" b="1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üretir</a:t>
            </a:r>
            <a:r>
              <a:rPr sz="1800" b="1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8FDB88-B123-4F79-98D2-0466D1C460C3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0477500" cy="9525"/>
          </a:xfrm>
          <a:prstGeom prst="rect">
            <a:avLst/>
          </a:prstGeom>
          <a:solidFill>
            <a:srgbClr val="34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37F99C-2369-4D83-9EC8-307E8460DB90}"/>
              </a:ext>
            </a:extLst>
          </p:cNvPr>
          <p:cNvSpPr>
            <a:spLocks noGrp="1"/>
          </p:cNvSpPr>
          <p:nvPr/>
        </p:nvSpPr>
        <p:spPr>
          <a:xfrm>
            <a:off x="552450" y="5048250"/>
            <a:ext cx="9525" cy="57150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B556AF-F987-4CD0-86ED-4057F7958C42}"/>
              </a:ext>
            </a:extLst>
          </p:cNvPr>
          <p:cNvSpPr>
            <a:spLocks noGrp="1"/>
          </p:cNvSpPr>
          <p:nvPr/>
        </p:nvSpPr>
        <p:spPr>
          <a:xfrm>
            <a:off x="704850" y="51244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25k + 25k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06D2A79-EC7E-4219-BE0A-F9209CE0F1B5}"/>
              </a:ext>
            </a:extLst>
          </p:cNvPr>
          <p:cNvSpPr>
            <a:spLocks noGrp="1"/>
          </p:cNvSpPr>
          <p:nvPr/>
        </p:nvSpPr>
        <p:spPr>
          <a:xfrm>
            <a:off x="704850" y="54864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RESMI IMDB SPLIT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4DF6D8-424F-4F4E-AA7A-365FB05AF7EF}"/>
              </a:ext>
            </a:extLst>
          </p:cNvPr>
          <p:cNvSpPr>
            <a:spLocks noGrp="1"/>
          </p:cNvSpPr>
          <p:nvPr/>
        </p:nvSpPr>
        <p:spPr>
          <a:xfrm>
            <a:off x="704850" y="56578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 dirty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Stanford train/test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F3EE9D-4A04-4768-9DEA-65D92E368E9D}"/>
              </a:ext>
            </a:extLst>
          </p:cNvPr>
          <p:cNvSpPr>
            <a:spLocks noGrp="1"/>
          </p:cNvSpPr>
          <p:nvPr/>
        </p:nvSpPr>
        <p:spPr>
          <a:xfrm>
            <a:off x="2990850" y="5048250"/>
            <a:ext cx="9525" cy="57150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040051-0210-4748-ADF0-CF61166264A4}"/>
              </a:ext>
            </a:extLst>
          </p:cNvPr>
          <p:cNvSpPr>
            <a:spLocks noGrp="1"/>
          </p:cNvSpPr>
          <p:nvPr/>
        </p:nvSpPr>
        <p:spPr>
          <a:xfrm>
            <a:off x="3143250" y="51244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E3D96AB-02C5-4C30-B0FC-331258DC2D6E}"/>
              </a:ext>
            </a:extLst>
          </p:cNvPr>
          <p:cNvSpPr>
            <a:spLocks noGrp="1"/>
          </p:cNvSpPr>
          <p:nvPr/>
        </p:nvSpPr>
        <p:spPr>
          <a:xfrm>
            <a:off x="3143250" y="54864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ÖNIŞLEME PROFILI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B4E708-FD09-4E44-8130-D49F2611DB75}"/>
              </a:ext>
            </a:extLst>
          </p:cNvPr>
          <p:cNvSpPr>
            <a:spLocks noGrp="1"/>
          </p:cNvSpPr>
          <p:nvPr/>
        </p:nvSpPr>
        <p:spPr>
          <a:xfrm>
            <a:off x="3143250" y="56578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basic, no_lowercase, punctuation, stopwords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E04CA2-E633-4970-88FA-89176BF18CF8}"/>
              </a:ext>
            </a:extLst>
          </p:cNvPr>
          <p:cNvSpPr>
            <a:spLocks noGrp="1"/>
          </p:cNvSpPr>
          <p:nvPr/>
        </p:nvSpPr>
        <p:spPr>
          <a:xfrm>
            <a:off x="5715000" y="5048250"/>
            <a:ext cx="9525" cy="5715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9DDFCB-C8B2-4E04-BC7E-1927D65D07F4}"/>
              </a:ext>
            </a:extLst>
          </p:cNvPr>
          <p:cNvSpPr>
            <a:spLocks noGrp="1"/>
          </p:cNvSpPr>
          <p:nvPr/>
        </p:nvSpPr>
        <p:spPr>
          <a:xfrm>
            <a:off x="5867400" y="51244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4AD8136-2D28-4BAD-89EF-38E64148507B}"/>
              </a:ext>
            </a:extLst>
          </p:cNvPr>
          <p:cNvSpPr>
            <a:spLocks noGrp="1"/>
          </p:cNvSpPr>
          <p:nvPr/>
        </p:nvSpPr>
        <p:spPr>
          <a:xfrm>
            <a:off x="5867400" y="54864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MODEL AILESI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7ABE5C-4ECC-4141-9E6E-8D20D549C96F}"/>
              </a:ext>
            </a:extLst>
          </p:cNvPr>
          <p:cNvSpPr>
            <a:spLocks noGrp="1"/>
          </p:cNvSpPr>
          <p:nvPr/>
        </p:nvSpPr>
        <p:spPr>
          <a:xfrm>
            <a:off x="5867400" y="56578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klasik + derin + hibrit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779670-91B1-484E-9F5F-083905DC886B}"/>
              </a:ext>
            </a:extLst>
          </p:cNvPr>
          <p:cNvSpPr>
            <a:spLocks noGrp="1"/>
          </p:cNvSpPr>
          <p:nvPr/>
        </p:nvSpPr>
        <p:spPr>
          <a:xfrm>
            <a:off x="8172450" y="5048250"/>
            <a:ext cx="9525" cy="571500"/>
          </a:xfrm>
          <a:prstGeom prst="rect">
            <a:avLst/>
          </a:prstGeom>
          <a:solidFill>
            <a:srgbClr val="9CC5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014A07-2F0F-4E54-ACA8-84B37EB0953E}"/>
              </a:ext>
            </a:extLst>
          </p:cNvPr>
          <p:cNvSpPr>
            <a:spLocks noGrp="1"/>
          </p:cNvSpPr>
          <p:nvPr/>
        </p:nvSpPr>
        <p:spPr>
          <a:xfrm>
            <a:off x="8324850" y="5124450"/>
            <a:ext cx="2000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87.87%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AA1D22-6EF1-4C1C-B561-D0B712B2038D}"/>
              </a:ext>
            </a:extLst>
          </p:cNvPr>
          <p:cNvSpPr>
            <a:spLocks noGrp="1"/>
          </p:cNvSpPr>
          <p:nvPr/>
        </p:nvSpPr>
        <p:spPr>
          <a:xfrm>
            <a:off x="8324850" y="548640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EN IYI F1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777379-CDF1-4D94-BD99-ABB94ED88766}"/>
              </a:ext>
            </a:extLst>
          </p:cNvPr>
          <p:cNvSpPr>
            <a:spLocks noGrp="1"/>
          </p:cNvSpPr>
          <p:nvPr/>
        </p:nvSpPr>
        <p:spPr>
          <a:xfrm>
            <a:off x="8324850" y="56578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TF-IDF + Logistic Regression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103900-0E3A-48B0-9B92-7F57CB5FF8D0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34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8A81D13-F8FE-4FE8-AF1E-A86F8BABABCF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8068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1D3A9C4-A560-4F54-B0A3-0BB176C02B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2-marker">
            <a:extLst>
              <a:ext uri="{FF2B5EF4-FFF2-40B4-BE49-F238E27FC236}">
                <a16:creationId xmlns:a16="http://schemas.microsoft.com/office/drawing/2014/main" id="{2E43DD22-D196-4A96-A897-B6B0482FDD2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2-label">
            <a:extLst>
              <a:ext uri="{FF2B5EF4-FFF2-40B4-BE49-F238E27FC236}">
                <a16:creationId xmlns:a16="http://schemas.microsoft.com/office/drawing/2014/main" id="{52288113-10F6-40F9-B97C-BC70F3F00290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lang="en-US"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6AB8D-5185-4C37-9F2B-DBFB30BBCFB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Sunum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,</a:t>
            </a:r>
            <a:r>
              <a:rPr lang="tr-TR"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burada geçen dört mevzuyu işliyor.</a:t>
            </a:r>
            <a:endParaRPr sz="2550" b="1" dirty="0">
              <a:solidFill>
                <a:srgbClr val="111820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4F8AC5-6F1B-4147-831F-21F0E068F49D}"/>
              </a:ext>
            </a:extLst>
          </p:cNvPr>
          <p:cNvSpPr>
            <a:spLocks noGrp="1"/>
          </p:cNvSpPr>
          <p:nvPr/>
        </p:nvSpPr>
        <p:spPr>
          <a:xfrm>
            <a:off x="666750" y="2647950"/>
            <a:ext cx="2143125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C93C1-61B0-4C36-9665-EC2D97387F9E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1800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dirty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 Problem </a:t>
            </a:r>
            <a:r>
              <a:rPr sz="975" b="1" dirty="0" err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975" b="1" dirty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literatür</a:t>
            </a:r>
            <a:endParaRPr sz="975" b="1" dirty="0">
              <a:solidFill>
                <a:srgbClr val="111820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7D32B6-FC6E-48D3-BFC1-049E447DD290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18002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Sentiment analysis neden önemli? IMDb neden uygun benchmark?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B5A385-D090-4D2F-9DF6-CA83027572D7}"/>
              </a:ext>
            </a:extLst>
          </p:cNvPr>
          <p:cNvSpPr>
            <a:spLocks noGrp="1"/>
          </p:cNvSpPr>
          <p:nvPr/>
        </p:nvSpPr>
        <p:spPr>
          <a:xfrm>
            <a:off x="2914650" y="3276600"/>
            <a:ext cx="561975" cy="190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6913B-F2CF-4838-86B0-ECBB83A8FE4F}"/>
              </a:ext>
            </a:extLst>
          </p:cNvPr>
          <p:cNvSpPr>
            <a:spLocks noGrp="1"/>
          </p:cNvSpPr>
          <p:nvPr/>
        </p:nvSpPr>
        <p:spPr>
          <a:xfrm>
            <a:off x="3419475" y="3238500"/>
            <a:ext cx="76200" cy="952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DA2459-DD19-4E42-A817-7CBC11A80D0D}"/>
              </a:ext>
            </a:extLst>
          </p:cNvPr>
          <p:cNvSpPr>
            <a:spLocks noGrp="1"/>
          </p:cNvSpPr>
          <p:nvPr/>
        </p:nvSpPr>
        <p:spPr>
          <a:xfrm>
            <a:off x="3581400" y="2647950"/>
            <a:ext cx="2143125" cy="12573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07634C-35AB-4CBC-A395-10593DAB9F4B}"/>
              </a:ext>
            </a:extLst>
          </p:cNvPr>
          <p:cNvSpPr>
            <a:spLocks noGrp="1"/>
          </p:cNvSpPr>
          <p:nvPr/>
        </p:nvSpPr>
        <p:spPr>
          <a:xfrm>
            <a:off x="3752850" y="2800350"/>
            <a:ext cx="1800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 Veri ve önişleme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CDFB18-3416-4A45-A95E-4B8500B1BBA1}"/>
              </a:ext>
            </a:extLst>
          </p:cNvPr>
          <p:cNvSpPr>
            <a:spLocks noGrp="1"/>
          </p:cNvSpPr>
          <p:nvPr/>
        </p:nvSpPr>
        <p:spPr>
          <a:xfrm>
            <a:off x="3752850" y="3086100"/>
            <a:ext cx="18002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Dataset yapısı, EDA, temizlik profilleri ve tokenization kararları.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A9CEFB-6530-400E-9C13-59EBA12107BE}"/>
              </a:ext>
            </a:extLst>
          </p:cNvPr>
          <p:cNvSpPr>
            <a:spLocks noGrp="1"/>
          </p:cNvSpPr>
          <p:nvPr/>
        </p:nvSpPr>
        <p:spPr>
          <a:xfrm>
            <a:off x="5829300" y="3276600"/>
            <a:ext cx="561975" cy="190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6DA6EF-F9B1-424B-8B3D-A56681BECBD6}"/>
              </a:ext>
            </a:extLst>
          </p:cNvPr>
          <p:cNvSpPr>
            <a:spLocks noGrp="1"/>
          </p:cNvSpPr>
          <p:nvPr/>
        </p:nvSpPr>
        <p:spPr>
          <a:xfrm>
            <a:off x="6334125" y="3238500"/>
            <a:ext cx="76200" cy="952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EC890A-079E-42FA-B631-3CA04E5E2C05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2143125" cy="12573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FB646C-2CDB-4DB5-A73E-441FE13FABC8}"/>
              </a:ext>
            </a:extLst>
          </p:cNvPr>
          <p:cNvSpPr>
            <a:spLocks noGrp="1"/>
          </p:cNvSpPr>
          <p:nvPr/>
        </p:nvSpPr>
        <p:spPr>
          <a:xfrm>
            <a:off x="6667500" y="2800350"/>
            <a:ext cx="18002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 Model teorisi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8A971B-9A4A-4E63-ABE8-CF649D7BA4C8}"/>
              </a:ext>
            </a:extLst>
          </p:cNvPr>
          <p:cNvSpPr>
            <a:spLocks noGrp="1"/>
          </p:cNvSpPr>
          <p:nvPr/>
        </p:nvSpPr>
        <p:spPr>
          <a:xfrm>
            <a:off x="6667500" y="3086100"/>
            <a:ext cx="1800225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TF-IDF+ML, Embedding, TextCNN, BiLSTM ve hibrit mimari.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CD10D5-E7BE-487E-B364-24F997A94919}"/>
              </a:ext>
            </a:extLst>
          </p:cNvPr>
          <p:cNvSpPr>
            <a:spLocks noGrp="1"/>
          </p:cNvSpPr>
          <p:nvPr/>
        </p:nvSpPr>
        <p:spPr>
          <a:xfrm>
            <a:off x="8743950" y="3276600"/>
            <a:ext cx="561975" cy="190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E47722-286E-4313-8322-4A0E1E76451E}"/>
              </a:ext>
            </a:extLst>
          </p:cNvPr>
          <p:cNvSpPr>
            <a:spLocks noGrp="1"/>
          </p:cNvSpPr>
          <p:nvPr/>
        </p:nvSpPr>
        <p:spPr>
          <a:xfrm>
            <a:off x="9248775" y="3238500"/>
            <a:ext cx="76200" cy="952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DF63E9-2CC5-43F0-86BD-4DF0A4561476}"/>
              </a:ext>
            </a:extLst>
          </p:cNvPr>
          <p:cNvSpPr>
            <a:spLocks noGrp="1"/>
          </p:cNvSpPr>
          <p:nvPr/>
        </p:nvSpPr>
        <p:spPr>
          <a:xfrm>
            <a:off x="9410700" y="2647950"/>
            <a:ext cx="2000250" cy="12573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74CA40-F3D0-49D8-AE48-5CEC8811F095}"/>
              </a:ext>
            </a:extLst>
          </p:cNvPr>
          <p:cNvSpPr>
            <a:spLocks noGrp="1"/>
          </p:cNvSpPr>
          <p:nvPr/>
        </p:nvSpPr>
        <p:spPr>
          <a:xfrm>
            <a:off x="9582150" y="28003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 Sonuç ve yorum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A7B263-8E09-4787-8A17-22452BC2CBB6}"/>
              </a:ext>
            </a:extLst>
          </p:cNvPr>
          <p:cNvSpPr>
            <a:spLocks noGrp="1"/>
          </p:cNvSpPr>
          <p:nvPr/>
        </p:nvSpPr>
        <p:spPr>
          <a:xfrm>
            <a:off x="9582150" y="3086100"/>
            <a:ext cx="1657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Accuracy, precision, recall, F1, süre ve hata analizi.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BD441AF-78F9-4C64-8831-0970A29AD0B3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03B62B-68B5-4F14-A5CB-0FF455B7DF47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9678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D169423-7D97-4C3C-A718-0CE3633A76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2" name="kicker-3-marker">
            <a:extLst>
              <a:ext uri="{FF2B5EF4-FFF2-40B4-BE49-F238E27FC236}">
                <a16:creationId xmlns:a16="http://schemas.microsoft.com/office/drawing/2014/main" id="{86B3244E-C148-4E52-9991-72C992D3F75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3-label">
            <a:extLst>
              <a:ext uri="{FF2B5EF4-FFF2-40B4-BE49-F238E27FC236}">
                <a16:creationId xmlns:a16="http://schemas.microsoft.com/office/drawing/2014/main" id="{2854976A-CB48-4A1B-B41C-A1C313D44D39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3F89F8-2FCA-4F37-B8AD-3E8C776623E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Duygu analizi, okunamayan yorum hacmini ölçülebilir sinyale çevirir.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E3ACB-F6B5-4E9D-B0A3-20A4498476B1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Online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yorumlar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karar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sürecini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etkiler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; NLP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bu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yorumları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pozitif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/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negatif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gibi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tutarlı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sınıflara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ayırarak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özetler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C543BB-41D3-44EA-9958-FA8B15CBA34F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23812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C5472E-F551-4A53-9E1E-2EE2E4017673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Kullanım alanı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4376C-514D-46AF-A21B-D4D9556E7F03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Film/ürün önerisi, müşteri memnuniyeti takibi, marka algısı, şikayet önceliklendirme.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D596F2-4E63-46DD-A4E6-DB60BD308976}"/>
              </a:ext>
            </a:extLst>
          </p:cNvPr>
          <p:cNvSpPr>
            <a:spLocks noGrp="1"/>
          </p:cNvSpPr>
          <p:nvPr/>
        </p:nvSpPr>
        <p:spPr>
          <a:xfrm>
            <a:off x="3467100" y="2571750"/>
            <a:ext cx="2381250" cy="11811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D58B8A-9FA5-4B63-994F-C4E6D4363A68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Maas et al. 2011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5BAA38-3BD0-460D-AA6F-5A3AFD10A62D}"/>
              </a:ext>
            </a:extLst>
          </p:cNvPr>
          <p:cNvSpPr>
            <a:spLocks noGrp="1"/>
          </p:cNvSpPr>
          <p:nvPr/>
        </p:nvSpPr>
        <p:spPr>
          <a:xfrm>
            <a:off x="3638550" y="300990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IMDb Large Movie Review Dataset duygu sınıflandırması için standart benchmark olarak sunuldu.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2C18DF-B2E9-45F7-AE1C-CDAB2EF19370}"/>
              </a:ext>
            </a:extLst>
          </p:cNvPr>
          <p:cNvSpPr>
            <a:spLocks noGrp="1"/>
          </p:cNvSpPr>
          <p:nvPr/>
        </p:nvSpPr>
        <p:spPr>
          <a:xfrm>
            <a:off x="6267450" y="2571750"/>
            <a:ext cx="2381250" cy="11811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36D8FA-C242-4BD2-9731-5340BA18E7F1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2038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Kim 2014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B3E0EF-3E94-4A5D-B356-B909E76E24CC}"/>
              </a:ext>
            </a:extLst>
          </p:cNvPr>
          <p:cNvSpPr>
            <a:spLocks noGrp="1"/>
          </p:cNvSpPr>
          <p:nvPr/>
        </p:nvSpPr>
        <p:spPr>
          <a:xfrm>
            <a:off x="6438900" y="300990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TextCNN, cümle sınıflandırmada yerel n-gram benzeri kalıpları güçlü şekilde yakalayabilir.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01F402-7ED7-4D75-8113-AB79DD0805A6}"/>
              </a:ext>
            </a:extLst>
          </p:cNvPr>
          <p:cNvSpPr>
            <a:spLocks noGrp="1"/>
          </p:cNvSpPr>
          <p:nvPr/>
        </p:nvSpPr>
        <p:spPr>
          <a:xfrm>
            <a:off x="9067800" y="2571750"/>
            <a:ext cx="21907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669978-81C7-4769-B5B7-E800BC796F0B}"/>
              </a:ext>
            </a:extLst>
          </p:cNvPr>
          <p:cNvSpPr>
            <a:spLocks noGrp="1"/>
          </p:cNvSpPr>
          <p:nvPr/>
        </p:nvSpPr>
        <p:spPr>
          <a:xfrm>
            <a:off x="9239250" y="2724150"/>
            <a:ext cx="1847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BERT 2018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6D17CAC-3E76-49AA-85E4-2B052C11C0F0}"/>
              </a:ext>
            </a:extLst>
          </p:cNvPr>
          <p:cNvSpPr>
            <a:spLocks noGrp="1"/>
          </p:cNvSpPr>
          <p:nvPr/>
        </p:nvSpPr>
        <p:spPr>
          <a:xfrm>
            <a:off x="9239250" y="3009900"/>
            <a:ext cx="1847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Bağlama duyarlı ve subword tabanlı temsil, gelecek çalışma için güçlü adaydır.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5288C1-A971-42A7-B5D4-64C58606C67E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631143-F4EF-4F97-B4C3-169EEBEE39AB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08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91FDA0D-5C02-4F3E-8662-46AC608CC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4-marker">
            <a:extLst>
              <a:ext uri="{FF2B5EF4-FFF2-40B4-BE49-F238E27FC236}">
                <a16:creationId xmlns:a16="http://schemas.microsoft.com/office/drawing/2014/main" id="{4F3D769E-55FD-456F-A539-9134CE10A6F2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469845-7AE2-4E7A-9664-B417EBBD89A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IMDb veri seti dengeli olduğu için karşılaştırma zemini sağlamdır.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38E34-BB72-4369-9091-97853C0AE6B1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Resmi Stanford veri seti 25.000 eğitim ve 25.000 test yorumundan oluşur; sınıflar pozitif/negatif olarak ayrıdır.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8562AA-6914-4765-8F98-073E9D7ADAF3}"/>
              </a:ext>
            </a:extLst>
          </p:cNvPr>
          <p:cNvSpPr>
            <a:spLocks noGrp="1"/>
          </p:cNvSpPr>
          <p:nvPr/>
        </p:nvSpPr>
        <p:spPr>
          <a:xfrm>
            <a:off x="666750" y="2400300"/>
            <a:ext cx="4476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78694" y="2647950"/>
            <a:ext cx="3833813" cy="2190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3D5606-851E-4F28-943F-48DA6B9813BA}"/>
              </a:ext>
            </a:extLst>
          </p:cNvPr>
          <p:cNvSpPr>
            <a:spLocks noGrp="1"/>
          </p:cNvSpPr>
          <p:nvPr/>
        </p:nvSpPr>
        <p:spPr>
          <a:xfrm>
            <a:off x="990600" y="49530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İlk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deney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koşusunda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her split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sınıf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için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1000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örnek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kullanıldı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DC6E39-E0A3-4B06-A4F7-413C551B4011}"/>
              </a:ext>
            </a:extLst>
          </p:cNvPr>
          <p:cNvSpPr>
            <a:spLocks noGrp="1"/>
          </p:cNvSpPr>
          <p:nvPr/>
        </p:nvSpPr>
        <p:spPr>
          <a:xfrm>
            <a:off x="5810250" y="2400300"/>
            <a:ext cx="4762500" cy="295275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E6F444-50D9-4753-BA86-CF16D0F86498}"/>
              </a:ext>
            </a:extLst>
          </p:cNvPr>
          <p:cNvSpPr>
            <a:spLocks noGrp="1"/>
          </p:cNvSpPr>
          <p:nvPr/>
        </p:nvSpPr>
        <p:spPr>
          <a:xfrm>
            <a:off x="6172200" y="2914650"/>
            <a:ext cx="9525" cy="57150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8FE766-F6D8-46C8-AFA7-EAE01C16C3B3}"/>
              </a:ext>
            </a:extLst>
          </p:cNvPr>
          <p:cNvSpPr>
            <a:spLocks noGrp="1"/>
          </p:cNvSpPr>
          <p:nvPr/>
        </p:nvSpPr>
        <p:spPr>
          <a:xfrm>
            <a:off x="6324600" y="29908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25.000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6C2EB-EDDC-4AE4-9E07-2628938BA5EC}"/>
              </a:ext>
            </a:extLst>
          </p:cNvPr>
          <p:cNvSpPr>
            <a:spLocks noGrp="1"/>
          </p:cNvSpPr>
          <p:nvPr/>
        </p:nvSpPr>
        <p:spPr>
          <a:xfrm>
            <a:off x="6324600" y="33528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TRAIN YORUM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5CB68-5FB8-4E49-8F10-F7F1F171CCC3}"/>
              </a:ext>
            </a:extLst>
          </p:cNvPr>
          <p:cNvSpPr>
            <a:spLocks noGrp="1"/>
          </p:cNvSpPr>
          <p:nvPr/>
        </p:nvSpPr>
        <p:spPr>
          <a:xfrm>
            <a:off x="6324600" y="35242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12.500 pozitif + 12.500 negatif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EA3C5C-E1D0-4A61-B1A4-0661F619D047}"/>
              </a:ext>
            </a:extLst>
          </p:cNvPr>
          <p:cNvSpPr>
            <a:spLocks noGrp="1"/>
          </p:cNvSpPr>
          <p:nvPr/>
        </p:nvSpPr>
        <p:spPr>
          <a:xfrm>
            <a:off x="8458200" y="2914650"/>
            <a:ext cx="9525" cy="57150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5CD90-11D1-4804-AB29-A95D6D54AF68}"/>
              </a:ext>
            </a:extLst>
          </p:cNvPr>
          <p:cNvSpPr>
            <a:spLocks noGrp="1"/>
          </p:cNvSpPr>
          <p:nvPr/>
        </p:nvSpPr>
        <p:spPr>
          <a:xfrm>
            <a:off x="8610600" y="2990850"/>
            <a:ext cx="1619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25.000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0222E8-92DE-4F8A-9951-F7D15B7809E0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TEST YORUM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AE2BEC-71DB-4184-A4A6-B768FE615F34}"/>
              </a:ext>
            </a:extLst>
          </p:cNvPr>
          <p:cNvSpPr>
            <a:spLocks noGrp="1"/>
          </p:cNvSpPr>
          <p:nvPr/>
        </p:nvSpPr>
        <p:spPr>
          <a:xfrm>
            <a:off x="8610600" y="35242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12.500 pozitif + 12.500 negatif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838B04-0967-41C8-902E-8EBA482B934C}"/>
              </a:ext>
            </a:extLst>
          </p:cNvPr>
          <p:cNvSpPr>
            <a:spLocks noGrp="1"/>
          </p:cNvSpPr>
          <p:nvPr/>
        </p:nvSpPr>
        <p:spPr>
          <a:xfrm>
            <a:off x="6172200" y="41719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Neden önemli?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71EFDD-D232-49CB-9DCC-F56191FF472A}"/>
              </a:ext>
            </a:extLst>
          </p:cNvPr>
          <p:cNvSpPr>
            <a:spLocks noGrp="1"/>
          </p:cNvSpPr>
          <p:nvPr/>
        </p:nvSpPr>
        <p:spPr>
          <a:xfrm>
            <a:off x="6172200" y="4438650"/>
            <a:ext cx="36766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Dengeli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sınıflar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accuracy'yi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anlamlı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kılar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;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fakat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precision, recall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ve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F1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olmadan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hataların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yönü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120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görülemez</a:t>
            </a:r>
            <a:r>
              <a:rPr sz="120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0A2B1A9-B70D-40DB-936F-5B794A605FCD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81FB81-2BDC-405B-A315-94A7ACA41070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7FFF88-9B9E-4CFD-9D58-9500C9514A22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87738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36E879B-C244-4ED2-AD4D-DDF7C79FCB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5-marker">
            <a:extLst>
              <a:ext uri="{FF2B5EF4-FFF2-40B4-BE49-F238E27FC236}">
                <a16:creationId xmlns:a16="http://schemas.microsoft.com/office/drawing/2014/main" id="{66AA196F-8B66-4448-A061-F1A15A5616D5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BE1408-E1CD-4583-A194-589FD20E1C7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Yorum uzunluğu padding ve sequence modellerinin maliyetini doğrudan etkiler.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5A38EC-1F67-404D-A6A9-026B4CB11353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IMDb yorumları kısa cümlelerden uzun paragraflara kadar değişir; bu yüzden maksimum uzunluk seçimi deney parametresidir.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82895C-E77E-4AD7-B126-26F8BAFF3CB5}"/>
              </a:ext>
            </a:extLst>
          </p:cNvPr>
          <p:cNvSpPr>
            <a:spLocks noGrp="1"/>
          </p:cNvSpPr>
          <p:nvPr/>
        </p:nvSpPr>
        <p:spPr>
          <a:xfrm>
            <a:off x="666750" y="2324100"/>
            <a:ext cx="60960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64456" y="2533650"/>
            <a:ext cx="4700588" cy="26860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96B04BF-5DAB-45D5-9818-A752BAF62953}"/>
              </a:ext>
            </a:extLst>
          </p:cNvPr>
          <p:cNvSpPr>
            <a:spLocks noGrp="1"/>
          </p:cNvSpPr>
          <p:nvPr/>
        </p:nvSpPr>
        <p:spPr>
          <a:xfrm>
            <a:off x="7219950" y="2324100"/>
            <a:ext cx="3429000" cy="325755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168F09-A320-4746-9C8C-63629361205E}"/>
              </a:ext>
            </a:extLst>
          </p:cNvPr>
          <p:cNvSpPr>
            <a:spLocks noGrp="1"/>
          </p:cNvSpPr>
          <p:nvPr/>
        </p:nvSpPr>
        <p:spPr>
          <a:xfrm>
            <a:off x="7486650" y="2647950"/>
            <a:ext cx="1809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EDA'dan</a:t>
            </a:r>
            <a:r>
              <a:rPr sz="825" b="1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1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çıkan</a:t>
            </a:r>
            <a:r>
              <a:rPr sz="825" b="1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1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kararlar</a:t>
            </a:r>
            <a:endParaRPr sz="825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C5EE8A-2377-4A05-8077-DC4AB3C5A5AD}"/>
              </a:ext>
            </a:extLst>
          </p:cNvPr>
          <p:cNvSpPr>
            <a:spLocks noGrp="1"/>
          </p:cNvSpPr>
          <p:nvPr/>
        </p:nvSpPr>
        <p:spPr>
          <a:xfrm>
            <a:off x="7505700" y="3105150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C45A35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C45A35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1B3932-73AA-4DCC-BC73-B84391148A66}"/>
              </a:ext>
            </a:extLst>
          </p:cNvPr>
          <p:cNvSpPr>
            <a:spLocks noGrp="1"/>
          </p:cNvSpPr>
          <p:nvPr/>
        </p:nvSpPr>
        <p:spPr>
          <a:xfrm>
            <a:off x="7905750" y="312420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Padding uzunluğu sabitlenmeli; aksi halde LSTM/CNN girdileri karşılaştırılamaz.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E4F635-61FD-4751-B1D2-BD4D3E47BC28}"/>
              </a:ext>
            </a:extLst>
          </p:cNvPr>
          <p:cNvSpPr>
            <a:spLocks noGrp="1"/>
          </p:cNvSpPr>
          <p:nvPr/>
        </p:nvSpPr>
        <p:spPr>
          <a:xfrm>
            <a:off x="7505700" y="3771900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F8A8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1F8A86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64B69-D993-4DF7-AE97-8323EAE0CA83}"/>
              </a:ext>
            </a:extLst>
          </p:cNvPr>
          <p:cNvSpPr>
            <a:spLocks noGrp="1"/>
          </p:cNvSpPr>
          <p:nvPr/>
        </p:nvSpPr>
        <p:spPr>
          <a:xfrm>
            <a:off x="7905750" y="37909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Vocab size sınırlaması nadir kelimeleri filtreler, eğitim süresini kontrol eder.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B8FBD4D-4F52-4196-9309-C6F220C7BAE8}"/>
              </a:ext>
            </a:extLst>
          </p:cNvPr>
          <p:cNvSpPr>
            <a:spLocks noGrp="1"/>
          </p:cNvSpPr>
          <p:nvPr/>
        </p:nvSpPr>
        <p:spPr>
          <a:xfrm>
            <a:off x="7505700" y="4438650"/>
            <a:ext cx="266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A441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D9A441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24B41-606D-43A8-8B6B-A05D1D428A4B}"/>
              </a:ext>
            </a:extLst>
          </p:cNvPr>
          <p:cNvSpPr>
            <a:spLocks noGrp="1"/>
          </p:cNvSpPr>
          <p:nvPr/>
        </p:nvSpPr>
        <p:spPr>
          <a:xfrm>
            <a:off x="7905750" y="4457700"/>
            <a:ext cx="2286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863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Uzun yorumlarda bağlam ve negation daha kritik hale gelir.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57CBC4-3AF2-4614-9390-C651245AD423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7EFD3A-ED4C-490A-87AB-8A82789B67B4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02649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91B3A06-3AC9-4B8F-BDB1-A7C70F991F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6-marker">
            <a:extLst>
              <a:ext uri="{FF2B5EF4-FFF2-40B4-BE49-F238E27FC236}">
                <a16:creationId xmlns:a16="http://schemas.microsoft.com/office/drawing/2014/main" id="{2A44F6FF-D11D-4B12-9788-3F713C7B0BD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6-label">
            <a:extLst>
              <a:ext uri="{FF2B5EF4-FFF2-40B4-BE49-F238E27FC236}">
                <a16:creationId xmlns:a16="http://schemas.microsoft.com/office/drawing/2014/main" id="{D23D96B1-CA3A-48BA-A7D4-498CF7175BBE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281DFA-F596-4F17-8E6D-3AB6FED3E038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Proje üç deney sorusuna cevap arar.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66C26F-6126-454A-AA67-0A649176A978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2952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DF151D-AF82-43F7-BBCF-C71E9A5212B2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2609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S1: Önişleme etkisi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05CF8-0937-452E-A546-4C7FEA2CB25B}"/>
              </a:ext>
            </a:extLst>
          </p:cNvPr>
          <p:cNvSpPr>
            <a:spLocks noGrp="1"/>
          </p:cNvSpPr>
          <p:nvPr/>
        </p:nvSpPr>
        <p:spPr>
          <a:xfrm>
            <a:off x="952500" y="3009900"/>
            <a:ext cx="26098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Lowercase, noktalama temizleme ve stopword temizleme F1-score'u artırıyor mu, azaltıyor mu?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A31019-CF3E-45BA-9AD5-97FE07F37212}"/>
              </a:ext>
            </a:extLst>
          </p:cNvPr>
          <p:cNvSpPr>
            <a:spLocks noGrp="1"/>
          </p:cNvSpPr>
          <p:nvPr/>
        </p:nvSpPr>
        <p:spPr>
          <a:xfrm>
            <a:off x="1066800" y="4476750"/>
            <a:ext cx="2381250" cy="285750"/>
          </a:xfrm>
          <a:prstGeom prst="rect">
            <a:avLst/>
          </a:prstGeom>
          <a:solidFill>
            <a:srgbClr val="EFE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FB7586-4E8E-4F5F-950F-7BEF1739C5D9}"/>
              </a:ext>
            </a:extLst>
          </p:cNvPr>
          <p:cNvSpPr>
            <a:spLocks noGrp="1"/>
          </p:cNvSpPr>
          <p:nvPr/>
        </p:nvSpPr>
        <p:spPr>
          <a:xfrm>
            <a:off x="1162050" y="45339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Hipotez: negation korunmazsa düşüş olur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EB20D7-F592-4AE2-8B76-0556BF522C25}"/>
              </a:ext>
            </a:extLst>
          </p:cNvPr>
          <p:cNvSpPr>
            <a:spLocks noGrp="1"/>
          </p:cNvSpPr>
          <p:nvPr/>
        </p:nvSpPr>
        <p:spPr>
          <a:xfrm>
            <a:off x="4514850" y="2571750"/>
            <a:ext cx="2952750" cy="161925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EDA1D-9B69-4B83-A4D3-407C0467F362}"/>
              </a:ext>
            </a:extLst>
          </p:cNvPr>
          <p:cNvSpPr>
            <a:spLocks noGrp="1"/>
          </p:cNvSpPr>
          <p:nvPr/>
        </p:nvSpPr>
        <p:spPr>
          <a:xfrm>
            <a:off x="4686300" y="2724150"/>
            <a:ext cx="2609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S2: Model ailesi etkisi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A929DE-C3B0-4DB3-B082-1AC763F8C969}"/>
              </a:ext>
            </a:extLst>
          </p:cNvPr>
          <p:cNvSpPr>
            <a:spLocks noGrp="1"/>
          </p:cNvSpPr>
          <p:nvPr/>
        </p:nvSpPr>
        <p:spPr>
          <a:xfrm>
            <a:off x="4686300" y="3009900"/>
            <a:ext cx="26098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Klasik TF-IDF modelleri mi, embedding/CNN/LSTM modelleri mi daha güçlü başlıyor?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586E11-3E6A-429F-AE4F-82F0C5516594}"/>
              </a:ext>
            </a:extLst>
          </p:cNvPr>
          <p:cNvSpPr>
            <a:spLocks noGrp="1"/>
          </p:cNvSpPr>
          <p:nvPr/>
        </p:nvSpPr>
        <p:spPr>
          <a:xfrm>
            <a:off x="4800600" y="4476750"/>
            <a:ext cx="2381250" cy="285750"/>
          </a:xfrm>
          <a:prstGeom prst="rect">
            <a:avLst/>
          </a:prstGeom>
          <a:solidFill>
            <a:srgbClr val="DDECE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CAF36D-48DB-4815-8348-50935DFF2D51}"/>
              </a:ext>
            </a:extLst>
          </p:cNvPr>
          <p:cNvSpPr>
            <a:spLocks noGrp="1"/>
          </p:cNvSpPr>
          <p:nvPr/>
        </p:nvSpPr>
        <p:spPr>
          <a:xfrm>
            <a:off x="4895850" y="45339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Hipotez: güçlü baseline şart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421C60-3B62-4ED9-B5CE-62A7ABBEEF04}"/>
              </a:ext>
            </a:extLst>
          </p:cNvPr>
          <p:cNvSpPr>
            <a:spLocks noGrp="1"/>
          </p:cNvSpPr>
          <p:nvPr/>
        </p:nvSpPr>
        <p:spPr>
          <a:xfrm>
            <a:off x="8248650" y="2571750"/>
            <a:ext cx="295275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AC6D4E-1247-4F32-8E35-7A4CA8BC1511}"/>
              </a:ext>
            </a:extLst>
          </p:cNvPr>
          <p:cNvSpPr>
            <a:spLocks noGrp="1"/>
          </p:cNvSpPr>
          <p:nvPr/>
        </p:nvSpPr>
        <p:spPr>
          <a:xfrm>
            <a:off x="8420100" y="2724150"/>
            <a:ext cx="2609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S3: Metrik yorumu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005ECD-6781-4434-B5DA-5330DAF08C1A}"/>
              </a:ext>
            </a:extLst>
          </p:cNvPr>
          <p:cNvSpPr>
            <a:spLocks noGrp="1"/>
          </p:cNvSpPr>
          <p:nvPr/>
        </p:nvSpPr>
        <p:spPr>
          <a:xfrm>
            <a:off x="8420100" y="3009900"/>
            <a:ext cx="2609850" cy="990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Accuracy tek başına yeterli mi? Precision ve recall hangi hata yönünü gösteriyor?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44DDF2-6ED3-45B1-A306-B9620DE781AC}"/>
              </a:ext>
            </a:extLst>
          </p:cNvPr>
          <p:cNvSpPr>
            <a:spLocks noGrp="1"/>
          </p:cNvSpPr>
          <p:nvPr/>
        </p:nvSpPr>
        <p:spPr>
          <a:xfrm>
            <a:off x="8534400" y="4476750"/>
            <a:ext cx="2381250" cy="285750"/>
          </a:xfrm>
          <a:prstGeom prst="rect">
            <a:avLst/>
          </a:prstGeom>
          <a:solidFill>
            <a:srgbClr val="EFE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A30400-CE60-4E68-A3D5-A2C2A899BDA7}"/>
              </a:ext>
            </a:extLst>
          </p:cNvPr>
          <p:cNvSpPr>
            <a:spLocks noGrp="1"/>
          </p:cNvSpPr>
          <p:nvPr/>
        </p:nvSpPr>
        <p:spPr>
          <a:xfrm>
            <a:off x="8629650" y="4533900"/>
            <a:ext cx="2190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Hipotez: F1 daha güvenilir özet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3CE49C-BE99-48BA-8A53-BC51B2C3B2CC}"/>
              </a:ext>
            </a:extLst>
          </p:cNvPr>
          <p:cNvSpPr>
            <a:spLocks noGrp="1"/>
          </p:cNvSpPr>
          <p:nvPr/>
        </p:nvSpPr>
        <p:spPr>
          <a:xfrm>
            <a:off x="1676400" y="5257800"/>
            <a:ext cx="7810500" cy="4953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66E51C-59B9-4993-B011-8A409FBBC1CB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7162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Karar kriteri: tüm modeller aynı train/test bölünmesi, aynı metrikler ve aynı alt örnekleme ile karşılaştırılır.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EDF350-BFA1-4440-ADCB-B420757B939B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C3754C1-9AA7-4259-98A8-8F6200A8178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834EF2-9A6E-4255-9761-B35D26C029B9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01733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EA727F64-FDA8-4ADE-8DF0-32B0CE276C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7-marker">
            <a:extLst>
              <a:ext uri="{FF2B5EF4-FFF2-40B4-BE49-F238E27FC236}">
                <a16:creationId xmlns:a16="http://schemas.microsoft.com/office/drawing/2014/main" id="{D46020A0-FED6-48CF-849B-06CACB56B1F7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7-label">
            <a:extLst>
              <a:ext uri="{FF2B5EF4-FFF2-40B4-BE49-F238E27FC236}">
                <a16:creationId xmlns:a16="http://schemas.microsoft.com/office/drawing/2014/main" id="{F2171C1A-33B9-4BB9-95BF-DBB280113A41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DENEY MATRISI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1F5879-9775-4B8A-929B-87B557FAE70F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Deney tasarımı 4 önişleme profili ile 8 model ailesini kesiştirir.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88E953-04B2-4FDC-A7A1-3585530B98AD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Bu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slayt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projenin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deney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ağırlıklı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yapısını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görünür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kılar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: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değişenler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sabit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tutulanlar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938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ayrıdır</a:t>
            </a:r>
            <a:r>
              <a:rPr sz="938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CF13C5-1F3C-43B8-A069-99DB0959B512}"/>
              </a:ext>
            </a:extLst>
          </p:cNvPr>
          <p:cNvSpPr>
            <a:spLocks noGrp="1"/>
          </p:cNvSpPr>
          <p:nvPr/>
        </p:nvSpPr>
        <p:spPr>
          <a:xfrm>
            <a:off x="22098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Majority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9BE6E4-0BD4-40D8-9B2C-00558195288F}"/>
              </a:ext>
            </a:extLst>
          </p:cNvPr>
          <p:cNvSpPr>
            <a:spLocks noGrp="1"/>
          </p:cNvSpPr>
          <p:nvPr/>
        </p:nvSpPr>
        <p:spPr>
          <a:xfrm>
            <a:off x="32766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 LR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B423E7-0A30-4F5B-B6DD-E54B843833E7}"/>
              </a:ext>
            </a:extLst>
          </p:cNvPr>
          <p:cNvSpPr>
            <a:spLocks noGrp="1"/>
          </p:cNvSpPr>
          <p:nvPr/>
        </p:nvSpPr>
        <p:spPr>
          <a:xfrm>
            <a:off x="43434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 SVM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15C5A4-545C-463C-ADED-4A0FEA36AE37}"/>
              </a:ext>
            </a:extLst>
          </p:cNvPr>
          <p:cNvSpPr>
            <a:spLocks noGrp="1"/>
          </p:cNvSpPr>
          <p:nvPr/>
        </p:nvSpPr>
        <p:spPr>
          <a:xfrm>
            <a:off x="54102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 NB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B9063C-BC97-4EC0-A582-BE33A8F82ACB}"/>
              </a:ext>
            </a:extLst>
          </p:cNvPr>
          <p:cNvSpPr>
            <a:spLocks noGrp="1"/>
          </p:cNvSpPr>
          <p:nvPr/>
        </p:nvSpPr>
        <p:spPr>
          <a:xfrm>
            <a:off x="64770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Emb Dense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7CBB4C-6003-428C-8A25-C0BC50EFEF01}"/>
              </a:ext>
            </a:extLst>
          </p:cNvPr>
          <p:cNvSpPr>
            <a:spLocks noGrp="1"/>
          </p:cNvSpPr>
          <p:nvPr/>
        </p:nvSpPr>
        <p:spPr>
          <a:xfrm>
            <a:off x="75438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TextCNN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0B768E-1F2A-4043-8A35-C0986D777A68}"/>
              </a:ext>
            </a:extLst>
          </p:cNvPr>
          <p:cNvSpPr>
            <a:spLocks noGrp="1"/>
          </p:cNvSpPr>
          <p:nvPr/>
        </p:nvSpPr>
        <p:spPr>
          <a:xfrm>
            <a:off x="86106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BiLSTM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4E7A22-420C-4A6F-A0DD-7BFBEEACF63E}"/>
              </a:ext>
            </a:extLst>
          </p:cNvPr>
          <p:cNvSpPr>
            <a:spLocks noGrp="1"/>
          </p:cNvSpPr>
          <p:nvPr/>
        </p:nvSpPr>
        <p:spPr>
          <a:xfrm>
            <a:off x="9677400" y="2152650"/>
            <a:ext cx="990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CNN+BiLSTM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11C60B-45FD-4523-A386-E9DD572D1253}"/>
              </a:ext>
            </a:extLst>
          </p:cNvPr>
          <p:cNvSpPr>
            <a:spLocks noGrp="1"/>
          </p:cNvSpPr>
          <p:nvPr/>
        </p:nvSpPr>
        <p:spPr>
          <a:xfrm>
            <a:off x="781050" y="26479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basic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512682-19FC-47E1-89F4-69D4C7197010}"/>
              </a:ext>
            </a:extLst>
          </p:cNvPr>
          <p:cNvSpPr>
            <a:spLocks noGrp="1"/>
          </p:cNvSpPr>
          <p:nvPr/>
        </p:nvSpPr>
        <p:spPr>
          <a:xfrm>
            <a:off x="2209800" y="2571750"/>
            <a:ext cx="971550" cy="3238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96F7EE-178D-4A1A-8321-F0D4C5A8C895}"/>
              </a:ext>
            </a:extLst>
          </p:cNvPr>
          <p:cNvSpPr>
            <a:spLocks noGrp="1"/>
          </p:cNvSpPr>
          <p:nvPr/>
        </p:nvSpPr>
        <p:spPr>
          <a:xfrm>
            <a:off x="22860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F7286D-3A79-4462-9210-75F518BE4183}"/>
              </a:ext>
            </a:extLst>
          </p:cNvPr>
          <p:cNvSpPr>
            <a:spLocks noGrp="1"/>
          </p:cNvSpPr>
          <p:nvPr/>
        </p:nvSpPr>
        <p:spPr>
          <a:xfrm>
            <a:off x="3276600" y="25717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43A285-54F9-4F22-90E3-594FBABE9DC4}"/>
              </a:ext>
            </a:extLst>
          </p:cNvPr>
          <p:cNvSpPr>
            <a:spLocks noGrp="1"/>
          </p:cNvSpPr>
          <p:nvPr/>
        </p:nvSpPr>
        <p:spPr>
          <a:xfrm>
            <a:off x="33528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413464-4E06-474F-9709-A0E4EA82B652}"/>
              </a:ext>
            </a:extLst>
          </p:cNvPr>
          <p:cNvSpPr>
            <a:spLocks noGrp="1"/>
          </p:cNvSpPr>
          <p:nvPr/>
        </p:nvSpPr>
        <p:spPr>
          <a:xfrm>
            <a:off x="4343400" y="25717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9FB01D-5B43-45E1-ADFF-643905FF2662}"/>
              </a:ext>
            </a:extLst>
          </p:cNvPr>
          <p:cNvSpPr>
            <a:spLocks noGrp="1"/>
          </p:cNvSpPr>
          <p:nvPr/>
        </p:nvSpPr>
        <p:spPr>
          <a:xfrm>
            <a:off x="44196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70A449-DB38-4C7C-806D-CFADBC3AA5F5}"/>
              </a:ext>
            </a:extLst>
          </p:cNvPr>
          <p:cNvSpPr>
            <a:spLocks noGrp="1"/>
          </p:cNvSpPr>
          <p:nvPr/>
        </p:nvSpPr>
        <p:spPr>
          <a:xfrm>
            <a:off x="5410200" y="25717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44D9A0-0F90-4B93-BA17-73FB12C02A6B}"/>
              </a:ext>
            </a:extLst>
          </p:cNvPr>
          <p:cNvSpPr>
            <a:spLocks noGrp="1"/>
          </p:cNvSpPr>
          <p:nvPr/>
        </p:nvSpPr>
        <p:spPr>
          <a:xfrm>
            <a:off x="54864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C78BBD-292A-4576-BF10-0A96E40901D7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D24534-E5BB-41E4-A2ED-D83BBA4D4559}"/>
              </a:ext>
            </a:extLst>
          </p:cNvPr>
          <p:cNvSpPr>
            <a:spLocks noGrp="1"/>
          </p:cNvSpPr>
          <p:nvPr/>
        </p:nvSpPr>
        <p:spPr>
          <a:xfrm>
            <a:off x="65532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BFEE64A-9394-4041-9DF4-5E666D15A8E5}"/>
              </a:ext>
            </a:extLst>
          </p:cNvPr>
          <p:cNvSpPr>
            <a:spLocks noGrp="1"/>
          </p:cNvSpPr>
          <p:nvPr/>
        </p:nvSpPr>
        <p:spPr>
          <a:xfrm>
            <a:off x="7543800" y="2571750"/>
            <a:ext cx="971550" cy="32385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C4F55E-B91B-4AB7-AAAB-2D70E628161B}"/>
              </a:ext>
            </a:extLst>
          </p:cNvPr>
          <p:cNvSpPr>
            <a:spLocks noGrp="1"/>
          </p:cNvSpPr>
          <p:nvPr/>
        </p:nvSpPr>
        <p:spPr>
          <a:xfrm>
            <a:off x="76200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92EF92-2F1E-45E6-96A6-14336B589E3D}"/>
              </a:ext>
            </a:extLst>
          </p:cNvPr>
          <p:cNvSpPr>
            <a:spLocks noGrp="1"/>
          </p:cNvSpPr>
          <p:nvPr/>
        </p:nvSpPr>
        <p:spPr>
          <a:xfrm>
            <a:off x="8610600" y="25717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2DDB83-A511-4AAC-A573-A6BEA0373630}"/>
              </a:ext>
            </a:extLst>
          </p:cNvPr>
          <p:cNvSpPr>
            <a:spLocks noGrp="1"/>
          </p:cNvSpPr>
          <p:nvPr/>
        </p:nvSpPr>
        <p:spPr>
          <a:xfrm>
            <a:off x="86868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87A577-A7FB-4BBC-B735-26D3CAA4263A}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68C405F-4F95-49B7-9811-3C7BD746DCB9}"/>
              </a:ext>
            </a:extLst>
          </p:cNvPr>
          <p:cNvSpPr>
            <a:spLocks noGrp="1"/>
          </p:cNvSpPr>
          <p:nvPr/>
        </p:nvSpPr>
        <p:spPr>
          <a:xfrm>
            <a:off x="9753600" y="26574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BE86F6-6E43-4623-9C15-82B39ADFBC82}"/>
              </a:ext>
            </a:extLst>
          </p:cNvPr>
          <p:cNvSpPr>
            <a:spLocks noGrp="1"/>
          </p:cNvSpPr>
          <p:nvPr/>
        </p:nvSpPr>
        <p:spPr>
          <a:xfrm>
            <a:off x="781050" y="30480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punctuation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E70AD7E-E42C-4818-8754-76048B32847E}"/>
              </a:ext>
            </a:extLst>
          </p:cNvPr>
          <p:cNvSpPr>
            <a:spLocks noGrp="1"/>
          </p:cNvSpPr>
          <p:nvPr/>
        </p:nvSpPr>
        <p:spPr>
          <a:xfrm>
            <a:off x="2209800" y="2971800"/>
            <a:ext cx="971550" cy="3238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C84DD4-A419-47F9-9B0E-A48C2B263975}"/>
              </a:ext>
            </a:extLst>
          </p:cNvPr>
          <p:cNvSpPr>
            <a:spLocks noGrp="1"/>
          </p:cNvSpPr>
          <p:nvPr/>
        </p:nvSpPr>
        <p:spPr>
          <a:xfrm>
            <a:off x="22860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935A4D-8E35-4265-AD0C-DDCC8263B73A}"/>
              </a:ext>
            </a:extLst>
          </p:cNvPr>
          <p:cNvSpPr>
            <a:spLocks noGrp="1"/>
          </p:cNvSpPr>
          <p:nvPr/>
        </p:nvSpPr>
        <p:spPr>
          <a:xfrm>
            <a:off x="3276600" y="29718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8B41DB-F710-4B47-8DE3-5D44C44A848E}"/>
              </a:ext>
            </a:extLst>
          </p:cNvPr>
          <p:cNvSpPr>
            <a:spLocks noGrp="1"/>
          </p:cNvSpPr>
          <p:nvPr/>
        </p:nvSpPr>
        <p:spPr>
          <a:xfrm>
            <a:off x="33528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271493-2D52-4BEF-B52B-8E8365A79ED8}"/>
              </a:ext>
            </a:extLst>
          </p:cNvPr>
          <p:cNvSpPr>
            <a:spLocks noGrp="1"/>
          </p:cNvSpPr>
          <p:nvPr/>
        </p:nvSpPr>
        <p:spPr>
          <a:xfrm>
            <a:off x="4343400" y="29718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4A6E38-E55C-4E75-8513-3F0765F1C1FD}"/>
              </a:ext>
            </a:extLst>
          </p:cNvPr>
          <p:cNvSpPr>
            <a:spLocks noGrp="1"/>
          </p:cNvSpPr>
          <p:nvPr/>
        </p:nvSpPr>
        <p:spPr>
          <a:xfrm>
            <a:off x="44196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13FBC-C528-4D8E-B86C-492721BA294C}"/>
              </a:ext>
            </a:extLst>
          </p:cNvPr>
          <p:cNvSpPr>
            <a:spLocks noGrp="1"/>
          </p:cNvSpPr>
          <p:nvPr/>
        </p:nvSpPr>
        <p:spPr>
          <a:xfrm>
            <a:off x="5410200" y="29718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38B6EB-20A1-4C23-B6AA-DE4F1BFA9F79}"/>
              </a:ext>
            </a:extLst>
          </p:cNvPr>
          <p:cNvSpPr>
            <a:spLocks noGrp="1"/>
          </p:cNvSpPr>
          <p:nvPr/>
        </p:nvSpPr>
        <p:spPr>
          <a:xfrm>
            <a:off x="54864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42A0CEC-342A-4CF2-B1BD-D19E4D2A811D}"/>
              </a:ext>
            </a:extLst>
          </p:cNvPr>
          <p:cNvSpPr>
            <a:spLocks noGrp="1"/>
          </p:cNvSpPr>
          <p:nvPr/>
        </p:nvSpPr>
        <p:spPr>
          <a:xfrm>
            <a:off x="6477000" y="29718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E11484-F0E7-4C8E-9098-713F5B097555}"/>
              </a:ext>
            </a:extLst>
          </p:cNvPr>
          <p:cNvSpPr>
            <a:spLocks noGrp="1"/>
          </p:cNvSpPr>
          <p:nvPr/>
        </p:nvSpPr>
        <p:spPr>
          <a:xfrm>
            <a:off x="65532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F67CD4-6466-4E66-A6A2-BB24DB565C96}"/>
              </a:ext>
            </a:extLst>
          </p:cNvPr>
          <p:cNvSpPr>
            <a:spLocks noGrp="1"/>
          </p:cNvSpPr>
          <p:nvPr/>
        </p:nvSpPr>
        <p:spPr>
          <a:xfrm>
            <a:off x="7543800" y="2971800"/>
            <a:ext cx="971550" cy="32385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6D35DA3-EC88-47CD-B1EC-01851CD3A9E6}"/>
              </a:ext>
            </a:extLst>
          </p:cNvPr>
          <p:cNvSpPr>
            <a:spLocks noGrp="1"/>
          </p:cNvSpPr>
          <p:nvPr/>
        </p:nvSpPr>
        <p:spPr>
          <a:xfrm>
            <a:off x="76200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EDE90C1-161F-4999-AE80-039CC5EEA879}"/>
              </a:ext>
            </a:extLst>
          </p:cNvPr>
          <p:cNvSpPr>
            <a:spLocks noGrp="1"/>
          </p:cNvSpPr>
          <p:nvPr/>
        </p:nvSpPr>
        <p:spPr>
          <a:xfrm>
            <a:off x="8610600" y="29718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E278C8A-4F6F-47AF-B65D-B4AA5B70D32F}"/>
              </a:ext>
            </a:extLst>
          </p:cNvPr>
          <p:cNvSpPr>
            <a:spLocks noGrp="1"/>
          </p:cNvSpPr>
          <p:nvPr/>
        </p:nvSpPr>
        <p:spPr>
          <a:xfrm>
            <a:off x="86868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56FFB00-763D-4B3E-A9F9-07241C83C8F6}"/>
              </a:ext>
            </a:extLst>
          </p:cNvPr>
          <p:cNvSpPr>
            <a:spLocks noGrp="1"/>
          </p:cNvSpPr>
          <p:nvPr/>
        </p:nvSpPr>
        <p:spPr>
          <a:xfrm>
            <a:off x="9677400" y="29718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308C4EC-E475-4342-ABF6-21B6DF75B4B0}"/>
              </a:ext>
            </a:extLst>
          </p:cNvPr>
          <p:cNvSpPr>
            <a:spLocks noGrp="1"/>
          </p:cNvSpPr>
          <p:nvPr/>
        </p:nvSpPr>
        <p:spPr>
          <a:xfrm>
            <a:off x="9753600" y="30575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52C9C8-1989-4B05-B608-59D17BB519F4}"/>
              </a:ext>
            </a:extLst>
          </p:cNvPr>
          <p:cNvSpPr>
            <a:spLocks noGrp="1"/>
          </p:cNvSpPr>
          <p:nvPr/>
        </p:nvSpPr>
        <p:spPr>
          <a:xfrm>
            <a:off x="781050" y="34480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stopwords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CBE4A5B-EA3C-4166-A0E1-D1690F9A31C1}"/>
              </a:ext>
            </a:extLst>
          </p:cNvPr>
          <p:cNvSpPr>
            <a:spLocks noGrp="1"/>
          </p:cNvSpPr>
          <p:nvPr/>
        </p:nvSpPr>
        <p:spPr>
          <a:xfrm>
            <a:off x="2209800" y="3371850"/>
            <a:ext cx="971550" cy="3238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EC9976A-DF52-45B2-B72D-6A2E4AE21B9C}"/>
              </a:ext>
            </a:extLst>
          </p:cNvPr>
          <p:cNvSpPr>
            <a:spLocks noGrp="1"/>
          </p:cNvSpPr>
          <p:nvPr/>
        </p:nvSpPr>
        <p:spPr>
          <a:xfrm>
            <a:off x="22860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C91FCB2-54A3-4C30-8704-8B6935748A59}"/>
              </a:ext>
            </a:extLst>
          </p:cNvPr>
          <p:cNvSpPr>
            <a:spLocks noGrp="1"/>
          </p:cNvSpPr>
          <p:nvPr/>
        </p:nvSpPr>
        <p:spPr>
          <a:xfrm>
            <a:off x="3276600" y="33718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953C620-C070-4276-807A-D170E6D181DE}"/>
              </a:ext>
            </a:extLst>
          </p:cNvPr>
          <p:cNvSpPr>
            <a:spLocks noGrp="1"/>
          </p:cNvSpPr>
          <p:nvPr/>
        </p:nvSpPr>
        <p:spPr>
          <a:xfrm>
            <a:off x="33528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61B29D94-3F26-43C3-B1FC-33F54B592120}"/>
              </a:ext>
            </a:extLst>
          </p:cNvPr>
          <p:cNvSpPr>
            <a:spLocks noGrp="1"/>
          </p:cNvSpPr>
          <p:nvPr/>
        </p:nvSpPr>
        <p:spPr>
          <a:xfrm>
            <a:off x="4343400" y="33718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019CBC4-3BFE-448B-87C1-5D741A30F4EB}"/>
              </a:ext>
            </a:extLst>
          </p:cNvPr>
          <p:cNvSpPr>
            <a:spLocks noGrp="1"/>
          </p:cNvSpPr>
          <p:nvPr/>
        </p:nvSpPr>
        <p:spPr>
          <a:xfrm>
            <a:off x="44196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56348FF-9C66-45CB-9F31-F52FC1DB8642}"/>
              </a:ext>
            </a:extLst>
          </p:cNvPr>
          <p:cNvSpPr>
            <a:spLocks noGrp="1"/>
          </p:cNvSpPr>
          <p:nvPr/>
        </p:nvSpPr>
        <p:spPr>
          <a:xfrm>
            <a:off x="5410200" y="337185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266CAA5-B0E3-41A6-B37A-E68E4E1A12CA}"/>
              </a:ext>
            </a:extLst>
          </p:cNvPr>
          <p:cNvSpPr>
            <a:spLocks noGrp="1"/>
          </p:cNvSpPr>
          <p:nvPr/>
        </p:nvSpPr>
        <p:spPr>
          <a:xfrm>
            <a:off x="54864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B8E995C-09EF-4C1C-99B8-094F8DFF76AD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0D2268-B6B8-4312-83BC-F9603102EF57}"/>
              </a:ext>
            </a:extLst>
          </p:cNvPr>
          <p:cNvSpPr>
            <a:spLocks noGrp="1"/>
          </p:cNvSpPr>
          <p:nvPr/>
        </p:nvSpPr>
        <p:spPr>
          <a:xfrm>
            <a:off x="65532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F165426-67F5-4FD6-BEFC-8A3BFB5E9BB0}"/>
              </a:ext>
            </a:extLst>
          </p:cNvPr>
          <p:cNvSpPr>
            <a:spLocks noGrp="1"/>
          </p:cNvSpPr>
          <p:nvPr/>
        </p:nvSpPr>
        <p:spPr>
          <a:xfrm>
            <a:off x="7543800" y="3371850"/>
            <a:ext cx="971550" cy="32385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430A318-08F9-4BB2-96DA-002DF08F21C9}"/>
              </a:ext>
            </a:extLst>
          </p:cNvPr>
          <p:cNvSpPr>
            <a:spLocks noGrp="1"/>
          </p:cNvSpPr>
          <p:nvPr/>
        </p:nvSpPr>
        <p:spPr>
          <a:xfrm>
            <a:off x="76200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969E11C-1DED-48C2-93F3-3CD98A1F3DB5}"/>
              </a:ext>
            </a:extLst>
          </p:cNvPr>
          <p:cNvSpPr>
            <a:spLocks noGrp="1"/>
          </p:cNvSpPr>
          <p:nvPr/>
        </p:nvSpPr>
        <p:spPr>
          <a:xfrm>
            <a:off x="8610600" y="33718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7AC329-96CC-4B23-9D90-C5F4C9B37442}"/>
              </a:ext>
            </a:extLst>
          </p:cNvPr>
          <p:cNvSpPr>
            <a:spLocks noGrp="1"/>
          </p:cNvSpPr>
          <p:nvPr/>
        </p:nvSpPr>
        <p:spPr>
          <a:xfrm>
            <a:off x="86868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4C7F461A-24EB-406C-BB5E-71D0DECF5F37}"/>
              </a:ext>
            </a:extLst>
          </p:cNvPr>
          <p:cNvSpPr>
            <a:spLocks noGrp="1"/>
          </p:cNvSpPr>
          <p:nvPr/>
        </p:nvSpPr>
        <p:spPr>
          <a:xfrm>
            <a:off x="9677400" y="337185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3FD228F-C41F-4745-BE33-81FFFF1866C3}"/>
              </a:ext>
            </a:extLst>
          </p:cNvPr>
          <p:cNvSpPr>
            <a:spLocks noGrp="1"/>
          </p:cNvSpPr>
          <p:nvPr/>
        </p:nvSpPr>
        <p:spPr>
          <a:xfrm>
            <a:off x="9753600" y="345757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AD968AD-CB10-46FF-83C5-30FAF25448C5}"/>
              </a:ext>
            </a:extLst>
          </p:cNvPr>
          <p:cNvSpPr>
            <a:spLocks noGrp="1"/>
          </p:cNvSpPr>
          <p:nvPr/>
        </p:nvSpPr>
        <p:spPr>
          <a:xfrm>
            <a:off x="781050" y="38481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no lowercase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F9D7F2E-63E2-4047-B6FD-E2F2BEEF1A56}"/>
              </a:ext>
            </a:extLst>
          </p:cNvPr>
          <p:cNvSpPr>
            <a:spLocks noGrp="1"/>
          </p:cNvSpPr>
          <p:nvPr/>
        </p:nvSpPr>
        <p:spPr>
          <a:xfrm>
            <a:off x="2209800" y="3771900"/>
            <a:ext cx="971550" cy="3238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2193E38-7F65-46FB-84FA-92A4F325E9E9}"/>
              </a:ext>
            </a:extLst>
          </p:cNvPr>
          <p:cNvSpPr>
            <a:spLocks noGrp="1"/>
          </p:cNvSpPr>
          <p:nvPr/>
        </p:nvSpPr>
        <p:spPr>
          <a:xfrm>
            <a:off x="22860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B90CCD6-AF2F-4D3A-A424-35E701A14230}"/>
              </a:ext>
            </a:extLst>
          </p:cNvPr>
          <p:cNvSpPr>
            <a:spLocks noGrp="1"/>
          </p:cNvSpPr>
          <p:nvPr/>
        </p:nvSpPr>
        <p:spPr>
          <a:xfrm>
            <a:off x="3276600" y="37719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1D18142-F447-4BA1-BD85-4843544C6A65}"/>
              </a:ext>
            </a:extLst>
          </p:cNvPr>
          <p:cNvSpPr>
            <a:spLocks noGrp="1"/>
          </p:cNvSpPr>
          <p:nvPr/>
        </p:nvSpPr>
        <p:spPr>
          <a:xfrm>
            <a:off x="33528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E827396-A8F9-4278-A9EF-7F7A8A25AE35}"/>
              </a:ext>
            </a:extLst>
          </p:cNvPr>
          <p:cNvSpPr>
            <a:spLocks noGrp="1"/>
          </p:cNvSpPr>
          <p:nvPr/>
        </p:nvSpPr>
        <p:spPr>
          <a:xfrm>
            <a:off x="4343400" y="37719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208F2DB-6390-4D5C-A9EE-D8ED029F228C}"/>
              </a:ext>
            </a:extLst>
          </p:cNvPr>
          <p:cNvSpPr>
            <a:spLocks noGrp="1"/>
          </p:cNvSpPr>
          <p:nvPr/>
        </p:nvSpPr>
        <p:spPr>
          <a:xfrm>
            <a:off x="44196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D71A917-60FE-47BD-8461-DAF7B9D08D1B}"/>
              </a:ext>
            </a:extLst>
          </p:cNvPr>
          <p:cNvSpPr>
            <a:spLocks noGrp="1"/>
          </p:cNvSpPr>
          <p:nvPr/>
        </p:nvSpPr>
        <p:spPr>
          <a:xfrm>
            <a:off x="5410200" y="3771900"/>
            <a:ext cx="971550" cy="32385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8F1787-B4F0-441A-A88B-39259BA776D9}"/>
              </a:ext>
            </a:extLst>
          </p:cNvPr>
          <p:cNvSpPr>
            <a:spLocks noGrp="1"/>
          </p:cNvSpPr>
          <p:nvPr/>
        </p:nvSpPr>
        <p:spPr>
          <a:xfrm>
            <a:off x="54864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17481C1-329E-4076-B9E5-5DED3F2EB584}"/>
              </a:ext>
            </a:extLst>
          </p:cNvPr>
          <p:cNvSpPr>
            <a:spLocks noGrp="1"/>
          </p:cNvSpPr>
          <p:nvPr/>
        </p:nvSpPr>
        <p:spPr>
          <a:xfrm>
            <a:off x="6477000" y="37719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FF882FA-E690-42FA-BA61-4E8E2D6F2AC9}"/>
              </a:ext>
            </a:extLst>
          </p:cNvPr>
          <p:cNvSpPr>
            <a:spLocks noGrp="1"/>
          </p:cNvSpPr>
          <p:nvPr/>
        </p:nvSpPr>
        <p:spPr>
          <a:xfrm>
            <a:off x="65532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2405751-9083-47BC-9DFB-6FD36791A4A1}"/>
              </a:ext>
            </a:extLst>
          </p:cNvPr>
          <p:cNvSpPr>
            <a:spLocks noGrp="1"/>
          </p:cNvSpPr>
          <p:nvPr/>
        </p:nvSpPr>
        <p:spPr>
          <a:xfrm>
            <a:off x="7543800" y="3771900"/>
            <a:ext cx="971550" cy="32385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649ABC8-D924-415E-BF30-8A71BA4CB6FE}"/>
              </a:ext>
            </a:extLst>
          </p:cNvPr>
          <p:cNvSpPr>
            <a:spLocks noGrp="1"/>
          </p:cNvSpPr>
          <p:nvPr/>
        </p:nvSpPr>
        <p:spPr>
          <a:xfrm>
            <a:off x="76200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C0481E7-CBAB-47A6-A745-C82348C204D1}"/>
              </a:ext>
            </a:extLst>
          </p:cNvPr>
          <p:cNvSpPr>
            <a:spLocks noGrp="1"/>
          </p:cNvSpPr>
          <p:nvPr/>
        </p:nvSpPr>
        <p:spPr>
          <a:xfrm>
            <a:off x="8610600" y="37719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88877C2-A61B-4E95-8FB0-267389BBA3E5}"/>
              </a:ext>
            </a:extLst>
          </p:cNvPr>
          <p:cNvSpPr>
            <a:spLocks noGrp="1"/>
          </p:cNvSpPr>
          <p:nvPr/>
        </p:nvSpPr>
        <p:spPr>
          <a:xfrm>
            <a:off x="86868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BED9406-EECE-4B43-A436-4A646574C91D}"/>
              </a:ext>
            </a:extLst>
          </p:cNvPr>
          <p:cNvSpPr>
            <a:spLocks noGrp="1"/>
          </p:cNvSpPr>
          <p:nvPr/>
        </p:nvSpPr>
        <p:spPr>
          <a:xfrm>
            <a:off x="9677400" y="3771900"/>
            <a:ext cx="971550" cy="323850"/>
          </a:xfrm>
          <a:prstGeom prst="rect">
            <a:avLst/>
          </a:prstGeom>
          <a:solidFill>
            <a:srgbClr val="E7E3DC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1451854-915B-41C5-83F3-F04970DE994D}"/>
              </a:ext>
            </a:extLst>
          </p:cNvPr>
          <p:cNvSpPr>
            <a:spLocks noGrp="1"/>
          </p:cNvSpPr>
          <p:nvPr/>
        </p:nvSpPr>
        <p:spPr>
          <a:xfrm>
            <a:off x="9753600" y="38576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0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run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D742D6F-AE36-40F7-B45D-2E44525C7C03}"/>
              </a:ext>
            </a:extLst>
          </p:cNvPr>
          <p:cNvSpPr>
            <a:spLocks noGrp="1"/>
          </p:cNvSpPr>
          <p:nvPr/>
        </p:nvSpPr>
        <p:spPr>
          <a:xfrm>
            <a:off x="1543050" y="4762500"/>
            <a:ext cx="8458200" cy="78105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6300638-5195-4E8C-A6E4-13C2960E86CF}"/>
              </a:ext>
            </a:extLst>
          </p:cNvPr>
          <p:cNvSpPr>
            <a:spLocks noGrp="1"/>
          </p:cNvSpPr>
          <p:nvPr/>
        </p:nvSpPr>
        <p:spPr>
          <a:xfrm>
            <a:off x="1809750" y="49720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Sabitler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46BFC38D-3A96-4744-AFAA-94A128EE7688}"/>
              </a:ext>
            </a:extLst>
          </p:cNvPr>
          <p:cNvSpPr>
            <a:spLocks noGrp="1"/>
          </p:cNvSpPr>
          <p:nvPr/>
        </p:nvSpPr>
        <p:spPr>
          <a:xfrm>
            <a:off x="1809750" y="5219700"/>
            <a:ext cx="771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Aynı train/test ayrımı, aynı örnek sayısı, aynı metrikler: accuracy, precision, recall, F1 ve eğitim süresi.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7EE6D28-9EE6-4A09-B8EC-DC90F5D9DFF5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161FCB8-E373-4884-8CDB-0DD977AA7CB5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55576B12-BF53-4419-BC08-666405B6F0FD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56582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E6AEFDB-1558-4B8B-9CD5-B7C265C02E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8-marker">
            <a:extLst>
              <a:ext uri="{FF2B5EF4-FFF2-40B4-BE49-F238E27FC236}">
                <a16:creationId xmlns:a16="http://schemas.microsoft.com/office/drawing/2014/main" id="{5EE19274-870E-4C6A-B3CE-62B61DDD9C4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8-label">
            <a:extLst>
              <a:ext uri="{FF2B5EF4-FFF2-40B4-BE49-F238E27FC236}">
                <a16:creationId xmlns:a16="http://schemas.microsoft.com/office/drawing/2014/main" id="{0BD4878F-125C-4120-B242-072CEF4F08E6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411C78-5B13-4E5C-8937-601F5D6E4866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Önişleme metni temizler; ama duygu sinyalini silmemelidir.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A2BD35-C791-4B41-BB42-8BCBB6062D28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Özellikle stopword temizleme, 'not good' gibi negation ifadelerinde anlamı tersine çevirebilir.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BC304-2997-4A4C-A79B-60E7460AA7DA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180975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E43993-BEED-4FE2-B471-C7445A9E7E16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Raw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AC5B6-EFC8-4F13-B00D-C0940C857C82}"/>
              </a:ext>
            </a:extLst>
          </p:cNvPr>
          <p:cNvSpPr>
            <a:spLocks noGrp="1"/>
          </p:cNvSpPr>
          <p:nvPr/>
        </p:nvSpPr>
        <p:spPr>
          <a:xfrm>
            <a:off x="857250" y="3009900"/>
            <a:ext cx="1466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This movie was &lt;br /&gt; NOT good, but the acting was fine!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6C8DA4-EC56-42AF-A70D-D51552CD9AFA}"/>
              </a:ext>
            </a:extLst>
          </p:cNvPr>
          <p:cNvSpPr>
            <a:spLocks noGrp="1"/>
          </p:cNvSpPr>
          <p:nvPr/>
        </p:nvSpPr>
        <p:spPr>
          <a:xfrm>
            <a:off x="2647950" y="3124200"/>
            <a:ext cx="542925" cy="190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FFE835-39F5-4725-B544-533A0B8CEF77}"/>
              </a:ext>
            </a:extLst>
          </p:cNvPr>
          <p:cNvSpPr>
            <a:spLocks noGrp="1"/>
          </p:cNvSpPr>
          <p:nvPr/>
        </p:nvSpPr>
        <p:spPr>
          <a:xfrm>
            <a:off x="3133725" y="3086100"/>
            <a:ext cx="76200" cy="952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2E49D0-A13B-476D-BF8E-40FB3CAA17CD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1809750" cy="11049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73E2AF-12D6-4EC3-A033-E6683E3C6AB4}"/>
              </a:ext>
            </a:extLst>
          </p:cNvPr>
          <p:cNvSpPr>
            <a:spLocks noGrp="1"/>
          </p:cNvSpPr>
          <p:nvPr/>
        </p:nvSpPr>
        <p:spPr>
          <a:xfrm>
            <a:off x="3505200" y="27241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HTML + lowercase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77A8C8-18D2-4456-ADD7-FE42E015C26D}"/>
              </a:ext>
            </a:extLst>
          </p:cNvPr>
          <p:cNvSpPr>
            <a:spLocks noGrp="1"/>
          </p:cNvSpPr>
          <p:nvPr/>
        </p:nvSpPr>
        <p:spPr>
          <a:xfrm>
            <a:off x="3505200" y="3009900"/>
            <a:ext cx="1466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this movie was not good, but the acting was fine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71EC6-2C4C-4AC8-8640-5B6EB128EEA5}"/>
              </a:ext>
            </a:extLst>
          </p:cNvPr>
          <p:cNvSpPr>
            <a:spLocks noGrp="1"/>
          </p:cNvSpPr>
          <p:nvPr/>
        </p:nvSpPr>
        <p:spPr>
          <a:xfrm>
            <a:off x="5295900" y="3124200"/>
            <a:ext cx="542925" cy="190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2DF26E-4330-4038-AF16-B0FCEB1134DC}"/>
              </a:ext>
            </a:extLst>
          </p:cNvPr>
          <p:cNvSpPr>
            <a:spLocks noGrp="1"/>
          </p:cNvSpPr>
          <p:nvPr/>
        </p:nvSpPr>
        <p:spPr>
          <a:xfrm>
            <a:off x="5781675" y="3086100"/>
            <a:ext cx="76200" cy="952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142794-9359-4591-895B-132F40DD4A3D}"/>
              </a:ext>
            </a:extLst>
          </p:cNvPr>
          <p:cNvSpPr>
            <a:spLocks noGrp="1"/>
          </p:cNvSpPr>
          <p:nvPr/>
        </p:nvSpPr>
        <p:spPr>
          <a:xfrm>
            <a:off x="5981700" y="2571750"/>
            <a:ext cx="1809750" cy="11049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65384C-8E49-4CEC-BC5D-A70D749495B0}"/>
              </a:ext>
            </a:extLst>
          </p:cNvPr>
          <p:cNvSpPr>
            <a:spLocks noGrp="1"/>
          </p:cNvSpPr>
          <p:nvPr/>
        </p:nvSpPr>
        <p:spPr>
          <a:xfrm>
            <a:off x="6153150" y="272415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Punctuation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DAFF328-8E6D-4C60-976E-634FCDA2423C}"/>
              </a:ext>
            </a:extLst>
          </p:cNvPr>
          <p:cNvSpPr>
            <a:spLocks noGrp="1"/>
          </p:cNvSpPr>
          <p:nvPr/>
        </p:nvSpPr>
        <p:spPr>
          <a:xfrm>
            <a:off x="6153150" y="3009900"/>
            <a:ext cx="14668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this movie was not good but the acting was fine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6AD081-99AD-4AA3-9664-5EA5326F336E}"/>
              </a:ext>
            </a:extLst>
          </p:cNvPr>
          <p:cNvSpPr>
            <a:spLocks noGrp="1"/>
          </p:cNvSpPr>
          <p:nvPr/>
        </p:nvSpPr>
        <p:spPr>
          <a:xfrm>
            <a:off x="7943850" y="3124200"/>
            <a:ext cx="542925" cy="190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B8E5D-07E6-4904-BF5A-3046C7F9D882}"/>
              </a:ext>
            </a:extLst>
          </p:cNvPr>
          <p:cNvSpPr>
            <a:spLocks noGrp="1"/>
          </p:cNvSpPr>
          <p:nvPr/>
        </p:nvSpPr>
        <p:spPr>
          <a:xfrm>
            <a:off x="8429625" y="3086100"/>
            <a:ext cx="76200" cy="952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859406-A02A-4B86-848F-DD64D95BA593}"/>
              </a:ext>
            </a:extLst>
          </p:cNvPr>
          <p:cNvSpPr>
            <a:spLocks noGrp="1"/>
          </p:cNvSpPr>
          <p:nvPr/>
        </p:nvSpPr>
        <p:spPr>
          <a:xfrm>
            <a:off x="8629650" y="2571750"/>
            <a:ext cx="2095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EB6831-1E26-4435-AD99-F99122B9C403}"/>
              </a:ext>
            </a:extLst>
          </p:cNvPr>
          <p:cNvSpPr>
            <a:spLocks noGrp="1"/>
          </p:cNvSpPr>
          <p:nvPr/>
        </p:nvSpPr>
        <p:spPr>
          <a:xfrm>
            <a:off x="8801100" y="2724150"/>
            <a:ext cx="1752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Stopwords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DEF572-5488-4678-BD19-C01AD3077196}"/>
              </a:ext>
            </a:extLst>
          </p:cNvPr>
          <p:cNvSpPr>
            <a:spLocks noGrp="1"/>
          </p:cNvSpPr>
          <p:nvPr/>
        </p:nvSpPr>
        <p:spPr>
          <a:xfrm>
            <a:off x="8801100" y="3009900"/>
            <a:ext cx="17526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movie not good acting fine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CDCA8B-3109-4E64-AFFF-2330F485D205}"/>
              </a:ext>
            </a:extLst>
          </p:cNvPr>
          <p:cNvSpPr>
            <a:spLocks noGrp="1"/>
          </p:cNvSpPr>
          <p:nvPr/>
        </p:nvSpPr>
        <p:spPr>
          <a:xfrm>
            <a:off x="1143000" y="4476750"/>
            <a:ext cx="4191000" cy="8763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0655CE-11C4-4309-A688-EBA9F87DC29A}"/>
              </a:ext>
            </a:extLst>
          </p:cNvPr>
          <p:cNvSpPr>
            <a:spLocks noGrp="1"/>
          </p:cNvSpPr>
          <p:nvPr/>
        </p:nvSpPr>
        <p:spPr>
          <a:xfrm>
            <a:off x="1409700" y="46863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Korunan kritik kelimeler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F1C9E1-D809-406F-8065-2FBAACA9554F}"/>
              </a:ext>
            </a:extLst>
          </p:cNvPr>
          <p:cNvSpPr>
            <a:spLocks noGrp="1"/>
          </p:cNvSpPr>
          <p:nvPr/>
        </p:nvSpPr>
        <p:spPr>
          <a:xfrm>
            <a:off x="1409700" y="4953000"/>
            <a:ext cx="3143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not, no, never, cannot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1EAADB-4598-4C2D-8ABD-802D7E72B00E}"/>
              </a:ext>
            </a:extLst>
          </p:cNvPr>
          <p:cNvSpPr>
            <a:spLocks noGrp="1"/>
          </p:cNvSpPr>
          <p:nvPr/>
        </p:nvSpPr>
        <p:spPr>
          <a:xfrm>
            <a:off x="6076950" y="4476750"/>
            <a:ext cx="3619500" cy="87630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A81D3D-2EE1-4529-8B16-D9268E4BE00A}"/>
              </a:ext>
            </a:extLst>
          </p:cNvPr>
          <p:cNvSpPr>
            <a:spLocks noGrp="1"/>
          </p:cNvSpPr>
          <p:nvPr/>
        </p:nvSpPr>
        <p:spPr>
          <a:xfrm>
            <a:off x="6343650" y="4686300"/>
            <a:ext cx="95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Ana sonuç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C161D7B-39E5-4C4D-9D0C-B11412C2988F}"/>
              </a:ext>
            </a:extLst>
          </p:cNvPr>
          <p:cNvSpPr>
            <a:spLocks noGrp="1"/>
          </p:cNvSpPr>
          <p:nvPr/>
        </p:nvSpPr>
        <p:spPr>
          <a:xfrm>
            <a:off x="6343650" y="4953000"/>
            <a:ext cx="2857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Stopword temizleme LR F1'i 87.87'den 87.44'e indirdi.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1F2A43D-8C00-4A56-AD1F-093A41F63046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97A82F-9F5C-4093-AC5B-31808F59B114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5868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F723641-311A-4AC8-82B9-6404A6F53B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9-marker">
            <a:extLst>
              <a:ext uri="{FF2B5EF4-FFF2-40B4-BE49-F238E27FC236}">
                <a16:creationId xmlns:a16="http://schemas.microsoft.com/office/drawing/2014/main" id="{A00A3937-A619-44AD-A5DF-47CC86FEE26C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30CAEE-5AC1-4CB2-B72F-16110783E40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Model farkı önce metnin sayısal temsiline bağlıdır.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D9B558-0BB0-4E86-8AD5-FCE43D45E516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Aynı yorum klasik modellerde TF-IDF vektörü, derin modellerde token dizisi ve embedding matrisi olarak temsil edilir.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EDD444-8AF3-4662-9D09-C58A982E3B40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97155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50A628-5864-43FB-B527-97AF48B41B59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497AA7-2F8A-451D-9E3E-47D1818F93B4}"/>
              </a:ext>
            </a:extLst>
          </p:cNvPr>
          <p:cNvSpPr>
            <a:spLocks noGrp="1"/>
          </p:cNvSpPr>
          <p:nvPr/>
        </p:nvSpPr>
        <p:spPr>
          <a:xfrm>
            <a:off x="1714500" y="2724150"/>
            <a:ext cx="723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"the movie was not good but the acting was fine"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1BBE6-140A-4335-A39B-A32BE465E07C}"/>
              </a:ext>
            </a:extLst>
          </p:cNvPr>
          <p:cNvSpPr>
            <a:spLocks noGrp="1"/>
          </p:cNvSpPr>
          <p:nvPr/>
        </p:nvSpPr>
        <p:spPr>
          <a:xfrm>
            <a:off x="952500" y="4000500"/>
            <a:ext cx="2476500" cy="12001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C97043-5871-408A-ACD9-E08052C643A2}"/>
              </a:ext>
            </a:extLst>
          </p:cNvPr>
          <p:cNvSpPr>
            <a:spLocks noGrp="1"/>
          </p:cNvSpPr>
          <p:nvPr/>
        </p:nvSpPr>
        <p:spPr>
          <a:xfrm>
            <a:off x="1123950" y="41529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1771BF-69C9-4D18-A5FD-11D561D09843}"/>
              </a:ext>
            </a:extLst>
          </p:cNvPr>
          <p:cNvSpPr>
            <a:spLocks noGrp="1"/>
          </p:cNvSpPr>
          <p:nvPr/>
        </p:nvSpPr>
        <p:spPr>
          <a:xfrm>
            <a:off x="1123950" y="4438650"/>
            <a:ext cx="2133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Kelime / n-gram önemini frekans ve ters doküman frekansı ile ağırlıklandırır.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464F5E-A026-4C58-9651-B6B68F04CA2D}"/>
              </a:ext>
            </a:extLst>
          </p:cNvPr>
          <p:cNvSpPr>
            <a:spLocks noGrp="1"/>
          </p:cNvSpPr>
          <p:nvPr/>
        </p:nvSpPr>
        <p:spPr>
          <a:xfrm>
            <a:off x="3562350" y="4591050"/>
            <a:ext cx="533400" cy="190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415167-FEC1-4D89-AA36-852B257628B1}"/>
              </a:ext>
            </a:extLst>
          </p:cNvPr>
          <p:cNvSpPr>
            <a:spLocks noGrp="1"/>
          </p:cNvSpPr>
          <p:nvPr/>
        </p:nvSpPr>
        <p:spPr>
          <a:xfrm>
            <a:off x="4038600" y="4552950"/>
            <a:ext cx="76200" cy="952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732E0-293E-4DB9-89E5-3A548B18F6EA}"/>
              </a:ext>
            </a:extLst>
          </p:cNvPr>
          <p:cNvSpPr>
            <a:spLocks noGrp="1"/>
          </p:cNvSpPr>
          <p:nvPr/>
        </p:nvSpPr>
        <p:spPr>
          <a:xfrm>
            <a:off x="4267200" y="4000500"/>
            <a:ext cx="2476500" cy="120015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46F50F-075F-4048-B222-02A9C39C8101}"/>
              </a:ext>
            </a:extLst>
          </p:cNvPr>
          <p:cNvSpPr>
            <a:spLocks noGrp="1"/>
          </p:cNvSpPr>
          <p:nvPr/>
        </p:nvSpPr>
        <p:spPr>
          <a:xfrm>
            <a:off x="4438650" y="41529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Token sequence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169F80-8198-41C8-BA90-FC105F8C73A3}"/>
              </a:ext>
            </a:extLst>
          </p:cNvPr>
          <p:cNvSpPr>
            <a:spLocks noGrp="1"/>
          </p:cNvSpPr>
          <p:nvPr/>
        </p:nvSpPr>
        <p:spPr>
          <a:xfrm>
            <a:off x="4438650" y="4438650"/>
            <a:ext cx="2133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Her kelime sabit bir indeks olur; padding ile uzunluk eşitlenir.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75B0A-873E-4679-B04F-1551ACA089B7}"/>
              </a:ext>
            </a:extLst>
          </p:cNvPr>
          <p:cNvSpPr>
            <a:spLocks noGrp="1"/>
          </p:cNvSpPr>
          <p:nvPr/>
        </p:nvSpPr>
        <p:spPr>
          <a:xfrm>
            <a:off x="6877050" y="4591050"/>
            <a:ext cx="533400" cy="190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146CA1-F750-41DA-8395-E8A242530B88}"/>
              </a:ext>
            </a:extLst>
          </p:cNvPr>
          <p:cNvSpPr>
            <a:spLocks noGrp="1"/>
          </p:cNvSpPr>
          <p:nvPr/>
        </p:nvSpPr>
        <p:spPr>
          <a:xfrm>
            <a:off x="7353300" y="4552950"/>
            <a:ext cx="76200" cy="952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EB98E4-C39F-472C-A0A9-525A25E56C04}"/>
              </a:ext>
            </a:extLst>
          </p:cNvPr>
          <p:cNvSpPr>
            <a:spLocks noGrp="1"/>
          </p:cNvSpPr>
          <p:nvPr/>
        </p:nvSpPr>
        <p:spPr>
          <a:xfrm>
            <a:off x="7581900" y="4000500"/>
            <a:ext cx="2476500" cy="120015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3AC6B6-2408-4107-88DD-A03B0CD1BDDC}"/>
              </a:ext>
            </a:extLst>
          </p:cNvPr>
          <p:cNvSpPr>
            <a:spLocks noGrp="1"/>
          </p:cNvSpPr>
          <p:nvPr/>
        </p:nvSpPr>
        <p:spPr>
          <a:xfrm>
            <a:off x="7753350" y="4152900"/>
            <a:ext cx="2133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Embedding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CF8D5E-E74A-49A1-951C-5CBA4BB6DF88}"/>
              </a:ext>
            </a:extLst>
          </p:cNvPr>
          <p:cNvSpPr>
            <a:spLocks noGrp="1"/>
          </p:cNvSpPr>
          <p:nvPr/>
        </p:nvSpPr>
        <p:spPr>
          <a:xfrm>
            <a:off x="7753350" y="4438650"/>
            <a:ext cx="2133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İndeksler öğrenilebilir yoğun vektörlere dönüşür; CNN/LSTM bu diziyi işler.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5DEE-37BD-45EA-8491-3BE3EA74E776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FC6F26-68A9-4BE2-8990-3FCFBDD60A44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23389E-724C-45AF-92A7-C4E66BA00DD0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25466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19F3FB1-5C99-4080-B004-1D3BB81D14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0-marker">
            <a:extLst>
              <a:ext uri="{FF2B5EF4-FFF2-40B4-BE49-F238E27FC236}">
                <a16:creationId xmlns:a16="http://schemas.microsoft.com/office/drawing/2014/main" id="{6808F6F1-C70B-4262-A2E9-8C319A8CADC2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0-label">
            <a:extLst>
              <a:ext uri="{FF2B5EF4-FFF2-40B4-BE49-F238E27FC236}">
                <a16:creationId xmlns:a16="http://schemas.microsoft.com/office/drawing/2014/main" id="{C9D18678-622E-41C7-8D2E-DB7A11B1A950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4C9F3A-AF78-4D6D-A584-94596128E49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Modeller farklı dil sinyallerini yakalamaya çalışır.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1F033-1B9A-4A05-8B63-2E46DCAB9AD2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4B86B9-28FB-439E-AB6D-F158E54F533A}"/>
              </a:ext>
            </a:extLst>
          </p:cNvPr>
          <p:cNvSpPr>
            <a:spLocks noGrp="1"/>
          </p:cNvSpPr>
          <p:nvPr/>
        </p:nvSpPr>
        <p:spPr>
          <a:xfrm>
            <a:off x="723900" y="2419350"/>
            <a:ext cx="476250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32877F-A9E3-44B8-9809-F57436D54DD8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Klasik ML hattı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A044DF-A88D-44C5-80F5-3D2032FFCC90}"/>
              </a:ext>
            </a:extLst>
          </p:cNvPr>
          <p:cNvSpPr>
            <a:spLocks noGrp="1"/>
          </p:cNvSpPr>
          <p:nvPr/>
        </p:nvSpPr>
        <p:spPr>
          <a:xfrm>
            <a:off x="1066800" y="3105150"/>
            <a:ext cx="1238250" cy="45720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FC689-1AF5-481D-9E97-6A3CCB811817}"/>
              </a:ext>
            </a:extLst>
          </p:cNvPr>
          <p:cNvSpPr>
            <a:spLocks noGrp="1"/>
          </p:cNvSpPr>
          <p:nvPr/>
        </p:nvSpPr>
        <p:spPr>
          <a:xfrm>
            <a:off x="1162050" y="32480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FC2C66-503F-472A-9A33-B077058BA862}"/>
              </a:ext>
            </a:extLst>
          </p:cNvPr>
          <p:cNvSpPr>
            <a:spLocks noGrp="1"/>
          </p:cNvSpPr>
          <p:nvPr/>
        </p:nvSpPr>
        <p:spPr>
          <a:xfrm>
            <a:off x="3028950" y="3105150"/>
            <a:ext cx="1238250" cy="45720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26F5AC-087C-4F3C-91D6-DA6DBE372D5A}"/>
              </a:ext>
            </a:extLst>
          </p:cNvPr>
          <p:cNvSpPr>
            <a:spLocks noGrp="1"/>
          </p:cNvSpPr>
          <p:nvPr/>
        </p:nvSpPr>
        <p:spPr>
          <a:xfrm>
            <a:off x="3124200" y="32480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LR / SVM / NB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82260F-60C0-409B-B43B-9F1B778F9A70}"/>
              </a:ext>
            </a:extLst>
          </p:cNvPr>
          <p:cNvSpPr>
            <a:spLocks noGrp="1"/>
          </p:cNvSpPr>
          <p:nvPr/>
        </p:nvSpPr>
        <p:spPr>
          <a:xfrm>
            <a:off x="971550" y="3590925"/>
            <a:ext cx="3810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Hızlı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yorumlanabilir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güçlü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baseline.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33EF68-C8E9-47C6-8FAB-7A76ED20294E}"/>
              </a:ext>
            </a:extLst>
          </p:cNvPr>
          <p:cNvSpPr>
            <a:spLocks noGrp="1"/>
          </p:cNvSpPr>
          <p:nvPr/>
        </p:nvSpPr>
        <p:spPr>
          <a:xfrm>
            <a:off x="6229350" y="2413875"/>
            <a:ext cx="4762500" cy="14478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02A99A-33C1-423F-83D9-3D4B31C74B0C}"/>
              </a:ext>
            </a:extLst>
          </p:cNvPr>
          <p:cNvSpPr>
            <a:spLocks noGrp="1"/>
          </p:cNvSpPr>
          <p:nvPr/>
        </p:nvSpPr>
        <p:spPr>
          <a:xfrm>
            <a:off x="6496050" y="2667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TextCNN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75C830-C6FE-4401-B36C-A63232F03D62}"/>
              </a:ext>
            </a:extLst>
          </p:cNvPr>
          <p:cNvSpPr>
            <a:spLocks noGrp="1"/>
          </p:cNvSpPr>
          <p:nvPr/>
        </p:nvSpPr>
        <p:spPr>
          <a:xfrm>
            <a:off x="6572250" y="3105150"/>
            <a:ext cx="1238250" cy="45720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7C1365-04B7-4547-AB74-F42A610EC83E}"/>
              </a:ext>
            </a:extLst>
          </p:cNvPr>
          <p:cNvSpPr>
            <a:spLocks noGrp="1"/>
          </p:cNvSpPr>
          <p:nvPr/>
        </p:nvSpPr>
        <p:spPr>
          <a:xfrm>
            <a:off x="6667500" y="32480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Embedding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42BBC3-0A9A-4DA7-BAD7-B3D44ECC40F9}"/>
              </a:ext>
            </a:extLst>
          </p:cNvPr>
          <p:cNvSpPr>
            <a:spLocks noGrp="1"/>
          </p:cNvSpPr>
          <p:nvPr/>
        </p:nvSpPr>
        <p:spPr>
          <a:xfrm>
            <a:off x="8496300" y="3105150"/>
            <a:ext cx="1238250" cy="45720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362343-D6B3-4B4D-BD20-434BC0B7FAA4}"/>
              </a:ext>
            </a:extLst>
          </p:cNvPr>
          <p:cNvSpPr>
            <a:spLocks noGrp="1"/>
          </p:cNvSpPr>
          <p:nvPr/>
        </p:nvSpPr>
        <p:spPr>
          <a:xfrm>
            <a:off x="8591550" y="32480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Conv1D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560FA-1FC1-43EF-BDDF-B16F9C5CD5A1}"/>
              </a:ext>
            </a:extLst>
          </p:cNvPr>
          <p:cNvSpPr>
            <a:spLocks noGrp="1"/>
          </p:cNvSpPr>
          <p:nvPr/>
        </p:nvSpPr>
        <p:spPr>
          <a:xfrm>
            <a:off x="6496050" y="3616124"/>
            <a:ext cx="3905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Yerel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ifade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kalıpları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: good acting, not worth, very boring.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79CEA0-B7B4-4F76-A988-4B1C099A3D43}"/>
              </a:ext>
            </a:extLst>
          </p:cNvPr>
          <p:cNvSpPr>
            <a:spLocks noGrp="1"/>
          </p:cNvSpPr>
          <p:nvPr/>
        </p:nvSpPr>
        <p:spPr>
          <a:xfrm>
            <a:off x="723900" y="4324350"/>
            <a:ext cx="4762500" cy="14097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011180E-54BA-40AC-826A-C634FDF20AA8}"/>
              </a:ext>
            </a:extLst>
          </p:cNvPr>
          <p:cNvSpPr>
            <a:spLocks noGrp="1"/>
          </p:cNvSpPr>
          <p:nvPr/>
        </p:nvSpPr>
        <p:spPr>
          <a:xfrm>
            <a:off x="990600" y="45720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BiLSTM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CD245A-8D25-4A9C-B189-B912503038D4}"/>
              </a:ext>
            </a:extLst>
          </p:cNvPr>
          <p:cNvSpPr>
            <a:spLocks noGrp="1"/>
          </p:cNvSpPr>
          <p:nvPr/>
        </p:nvSpPr>
        <p:spPr>
          <a:xfrm>
            <a:off x="1066800" y="4972050"/>
            <a:ext cx="1238250" cy="45720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EE5C3D-F7B1-4299-9FCB-C8D4478EB947}"/>
              </a:ext>
            </a:extLst>
          </p:cNvPr>
          <p:cNvSpPr>
            <a:spLocks noGrp="1"/>
          </p:cNvSpPr>
          <p:nvPr/>
        </p:nvSpPr>
        <p:spPr>
          <a:xfrm>
            <a:off x="1162050" y="51149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Forward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255556-FE87-4ABE-B120-F3A366CB0DEB}"/>
              </a:ext>
            </a:extLst>
          </p:cNvPr>
          <p:cNvSpPr>
            <a:spLocks noGrp="1"/>
          </p:cNvSpPr>
          <p:nvPr/>
        </p:nvSpPr>
        <p:spPr>
          <a:xfrm>
            <a:off x="3028950" y="4972050"/>
            <a:ext cx="1238250" cy="457200"/>
          </a:xfrm>
          <a:prstGeom prst="rect">
            <a:avLst/>
          </a:prstGeom>
          <a:solidFill>
            <a:srgbClr val="EFE6D9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2DFCFA-B25C-4FB3-9706-F7FD94D1A018}"/>
              </a:ext>
            </a:extLst>
          </p:cNvPr>
          <p:cNvSpPr>
            <a:spLocks noGrp="1"/>
          </p:cNvSpPr>
          <p:nvPr/>
        </p:nvSpPr>
        <p:spPr>
          <a:xfrm>
            <a:off x="3124200" y="51149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Backward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2DC6567-42F0-4A9A-A90F-703B5B81A276}"/>
              </a:ext>
            </a:extLst>
          </p:cNvPr>
          <p:cNvSpPr>
            <a:spLocks noGrp="1"/>
          </p:cNvSpPr>
          <p:nvPr/>
        </p:nvSpPr>
        <p:spPr>
          <a:xfrm>
            <a:off x="971550" y="5486400"/>
            <a:ext cx="3733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Kelime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sırası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ve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iki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yönlü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bağlam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ilişkisini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işler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C3581E-86B9-4DA8-A4BE-13A89CF16A17}"/>
              </a:ext>
            </a:extLst>
          </p:cNvPr>
          <p:cNvSpPr>
            <a:spLocks noGrp="1"/>
          </p:cNvSpPr>
          <p:nvPr/>
        </p:nvSpPr>
        <p:spPr>
          <a:xfrm>
            <a:off x="6229350" y="4324350"/>
            <a:ext cx="4762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B9154E4-0C98-46D4-B13E-FF49A451BD7A}"/>
              </a:ext>
            </a:extLst>
          </p:cNvPr>
          <p:cNvSpPr>
            <a:spLocks noGrp="1"/>
          </p:cNvSpPr>
          <p:nvPr/>
        </p:nvSpPr>
        <p:spPr>
          <a:xfrm>
            <a:off x="6496050" y="45720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CNN + BiLSTM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F0CDC8C-7A13-4628-A623-3846CFE87322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1238250" cy="457200"/>
          </a:xfrm>
          <a:prstGeom prst="rect">
            <a:avLst/>
          </a:prstGeom>
          <a:solidFill>
            <a:srgbClr val="F3E3BD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23580A2-2789-4864-9218-7252D261D16E}"/>
              </a:ext>
            </a:extLst>
          </p:cNvPr>
          <p:cNvSpPr>
            <a:spLocks noGrp="1"/>
          </p:cNvSpPr>
          <p:nvPr/>
        </p:nvSpPr>
        <p:spPr>
          <a:xfrm>
            <a:off x="6667500" y="51149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Conv1D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8253DFA-0D31-4E76-BD9B-3983205A8F67}"/>
              </a:ext>
            </a:extLst>
          </p:cNvPr>
          <p:cNvSpPr>
            <a:spLocks noGrp="1"/>
          </p:cNvSpPr>
          <p:nvPr/>
        </p:nvSpPr>
        <p:spPr>
          <a:xfrm>
            <a:off x="8496300" y="4972050"/>
            <a:ext cx="1238250" cy="457200"/>
          </a:xfrm>
          <a:prstGeom prst="rect">
            <a:avLst/>
          </a:prstGeom>
          <a:solidFill>
            <a:srgbClr val="DDECEA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5ACD2C9-3A1C-4282-9B04-3596507EA9BA}"/>
              </a:ext>
            </a:extLst>
          </p:cNvPr>
          <p:cNvSpPr>
            <a:spLocks noGrp="1"/>
          </p:cNvSpPr>
          <p:nvPr/>
        </p:nvSpPr>
        <p:spPr>
          <a:xfrm>
            <a:off x="8591550" y="5114925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BiLSTM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7EEF2EE-820E-4FF0-A9F6-D1566B8E1AC0}"/>
              </a:ext>
            </a:extLst>
          </p:cNvPr>
          <p:cNvSpPr>
            <a:spLocks noGrp="1"/>
          </p:cNvSpPr>
          <p:nvPr/>
        </p:nvSpPr>
        <p:spPr>
          <a:xfrm>
            <a:off x="6477000" y="5476875"/>
            <a:ext cx="3733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Önce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yerel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kalıp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,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sonra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sıralı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bağlam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82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yakalanır</a:t>
            </a:r>
            <a:r>
              <a:rPr sz="82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28F7D5F-3B04-44F9-AE1D-AAA046B4CBBC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7ED46A-9C0D-4208-94C1-D1FC599A2591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C37A60-0736-4BDF-9EF2-237F9B7841E6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0654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019FC0F-695C-4946-86D9-90A8115415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1-marker">
            <a:extLst>
              <a:ext uri="{FF2B5EF4-FFF2-40B4-BE49-F238E27FC236}">
                <a16:creationId xmlns:a16="http://schemas.microsoft.com/office/drawing/2014/main" id="{F62EFBC2-94BB-4E06-A8E6-8542B93394D6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1-label">
            <a:extLst>
              <a:ext uri="{FF2B5EF4-FFF2-40B4-BE49-F238E27FC236}">
                <a16:creationId xmlns:a16="http://schemas.microsoft.com/office/drawing/2014/main" id="{6043D30A-C6FE-4287-A471-17B684BEB402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F724D6-E73F-40ED-B5BA-D7B96C9040B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Accuracy sonucu özetler; F1 hata dengesini daha iyi gösterir.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461492-E09D-4293-9214-069BD1633872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Dengeli veri setinde accuracy okunabilir, ama precision/recall ayrımı pozitif ve negatif hata yönünü açıklar.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7FD9E-103A-49FE-B8C7-E974BD8D570E}"/>
              </a:ext>
            </a:extLst>
          </p:cNvPr>
          <p:cNvSpPr>
            <a:spLocks noGrp="1"/>
          </p:cNvSpPr>
          <p:nvPr/>
        </p:nvSpPr>
        <p:spPr>
          <a:xfrm>
            <a:off x="742950" y="2514600"/>
            <a:ext cx="2457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F748DC9-E370-4EEC-8588-FF7B456013C6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106676-43DD-4436-AC99-7697968E6086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C45A35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C45A35"/>
                </a:solidFill>
                <a:latin typeface="Aptos Mono"/>
                <a:ea typeface="Aptos Mono"/>
                <a:cs typeface="Aptos Mono"/>
              </a:rPr>
              <a:t>(TP+TN)/All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DC86F9-F51A-4ADD-9D7E-384C3C8C93D9}"/>
              </a:ext>
            </a:extLst>
          </p:cNvPr>
          <p:cNvSpPr>
            <a:spLocks noGrp="1"/>
          </p:cNvSpPr>
          <p:nvPr/>
        </p:nvSpPr>
        <p:spPr>
          <a:xfrm>
            <a:off x="3524250" y="2514600"/>
            <a:ext cx="2457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CD8C9A-B78B-4D1C-B953-1CA2BA914AC8}"/>
              </a:ext>
            </a:extLst>
          </p:cNvPr>
          <p:cNvSpPr>
            <a:spLocks noGrp="1"/>
          </p:cNvSpPr>
          <p:nvPr/>
        </p:nvSpPr>
        <p:spPr>
          <a:xfrm>
            <a:off x="3676650" y="2647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Precision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C3E979-9F6F-43CC-B297-2B37767D3D85}"/>
              </a:ext>
            </a:extLst>
          </p:cNvPr>
          <p:cNvSpPr>
            <a:spLocks noGrp="1"/>
          </p:cNvSpPr>
          <p:nvPr/>
        </p:nvSpPr>
        <p:spPr>
          <a:xfrm>
            <a:off x="3676650" y="2876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F8A8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F8A86"/>
                </a:solidFill>
                <a:latin typeface="Aptos Mono"/>
                <a:ea typeface="Aptos Mono"/>
                <a:cs typeface="Aptos Mono"/>
              </a:rPr>
              <a:t>TP/(TP+FP)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AF6B55-5C23-4A09-9C12-6BE8CEF13D04}"/>
              </a:ext>
            </a:extLst>
          </p:cNvPr>
          <p:cNvSpPr>
            <a:spLocks noGrp="1"/>
          </p:cNvSpPr>
          <p:nvPr/>
        </p:nvSpPr>
        <p:spPr>
          <a:xfrm>
            <a:off x="6305550" y="2514600"/>
            <a:ext cx="2457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ECFC70-F636-421D-9C05-29168AF525A9}"/>
              </a:ext>
            </a:extLst>
          </p:cNvPr>
          <p:cNvSpPr>
            <a:spLocks noGrp="1"/>
          </p:cNvSpPr>
          <p:nvPr/>
        </p:nvSpPr>
        <p:spPr>
          <a:xfrm>
            <a:off x="6457950" y="2647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Recall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B7B61E-FFB9-4989-A519-B5966F5EC7A7}"/>
              </a:ext>
            </a:extLst>
          </p:cNvPr>
          <p:cNvSpPr>
            <a:spLocks noGrp="1"/>
          </p:cNvSpPr>
          <p:nvPr/>
        </p:nvSpPr>
        <p:spPr>
          <a:xfrm>
            <a:off x="6457950" y="2876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9A441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D9A441"/>
                </a:solidFill>
                <a:latin typeface="Aptos Mono"/>
                <a:ea typeface="Aptos Mono"/>
                <a:cs typeface="Aptos Mono"/>
              </a:rPr>
              <a:t>TP/(TP+FN)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2B9CE9-2CE8-42D8-8CA1-DA7B26EA2EC8}"/>
              </a:ext>
            </a:extLst>
          </p:cNvPr>
          <p:cNvSpPr>
            <a:spLocks noGrp="1"/>
          </p:cNvSpPr>
          <p:nvPr/>
        </p:nvSpPr>
        <p:spPr>
          <a:xfrm>
            <a:off x="9086850" y="2514600"/>
            <a:ext cx="24574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975BEE-9DD6-4DDF-B46E-788BC7CBB4E8}"/>
              </a:ext>
            </a:extLst>
          </p:cNvPr>
          <p:cNvSpPr>
            <a:spLocks noGrp="1"/>
          </p:cNvSpPr>
          <p:nvPr/>
        </p:nvSpPr>
        <p:spPr>
          <a:xfrm>
            <a:off x="9239250" y="2647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F1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CF2E63-2113-4B31-909D-7C1367479622}"/>
              </a:ext>
            </a:extLst>
          </p:cNvPr>
          <p:cNvSpPr>
            <a:spLocks noGrp="1"/>
          </p:cNvSpPr>
          <p:nvPr/>
        </p:nvSpPr>
        <p:spPr>
          <a:xfrm>
            <a:off x="9239250" y="28765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4260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42607A"/>
                </a:solidFill>
                <a:latin typeface="Aptos Mono"/>
                <a:ea typeface="Aptos Mono"/>
                <a:cs typeface="Aptos Mono"/>
              </a:rPr>
              <a:t>2PR/(P+R)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EB3464-A75C-4583-BBF4-0EEF9E309DE2}"/>
              </a:ext>
            </a:extLst>
          </p:cNvPr>
          <p:cNvSpPr>
            <a:spLocks noGrp="1"/>
          </p:cNvSpPr>
          <p:nvPr/>
        </p:nvSpPr>
        <p:spPr>
          <a:xfrm>
            <a:off x="1638300" y="4076700"/>
            <a:ext cx="8001000" cy="10668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ED1FA6-65D0-44CC-87F3-D816B6EDD7FE}"/>
              </a:ext>
            </a:extLst>
          </p:cNvPr>
          <p:cNvSpPr>
            <a:spLocks noGrp="1"/>
          </p:cNvSpPr>
          <p:nvPr/>
        </p:nvSpPr>
        <p:spPr>
          <a:xfrm>
            <a:off x="1924050" y="43053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 dirty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Bu </a:t>
            </a:r>
            <a:r>
              <a:rPr sz="750" b="1" dirty="0" err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projede</a:t>
            </a:r>
            <a:r>
              <a:rPr sz="750" b="1" dirty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50" b="1" dirty="0" err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karar</a:t>
            </a:r>
            <a:r>
              <a:rPr sz="750" b="1" dirty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50" b="1" dirty="0" err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metriği</a:t>
            </a:r>
            <a:endParaRPr sz="750" b="1" dirty="0">
              <a:solidFill>
                <a:srgbClr val="AEB8C5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76F964-1B29-4503-8D2A-C93206D946A0}"/>
              </a:ext>
            </a:extLst>
          </p:cNvPr>
          <p:cNvSpPr>
            <a:spLocks noGrp="1"/>
          </p:cNvSpPr>
          <p:nvPr/>
        </p:nvSpPr>
        <p:spPr>
          <a:xfrm>
            <a:off x="1924050" y="4572000"/>
            <a:ext cx="742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Model sıralaması F1-score ile yapıldı; accuracy, precision, recall ve eğitim süresi destekleyici metrik olarak raporlandı.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626D1F-4B90-4238-90CC-F57C43806BAB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1F1F57-F660-4975-A186-56D3AFF3CE7E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6C6CEC-51E6-4043-8E88-80CD88E7FE1B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282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D876DDB-DE3D-44BE-9578-0F420C190E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 dirty="0"/>
          </a:p>
        </p:txBody>
      </p:sp>
      <p:sp>
        <p:nvSpPr>
          <p:cNvPr id="2" name="kicker-12-marker">
            <a:extLst>
              <a:ext uri="{FF2B5EF4-FFF2-40B4-BE49-F238E27FC236}">
                <a16:creationId xmlns:a16="http://schemas.microsoft.com/office/drawing/2014/main" id="{CC65718B-395A-4287-9880-1293CB42034E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2-label">
            <a:extLst>
              <a:ext uri="{FF2B5EF4-FFF2-40B4-BE49-F238E27FC236}">
                <a16:creationId xmlns:a16="http://schemas.microsoft.com/office/drawing/2014/main" id="{E4D54A46-5144-4A13-B602-B37B344D54AA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D37D91-F901-47B7-B86F-3E335F6D9D4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Güçlü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klasik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baseline,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derin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modellerden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önce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referans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çizgisini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koydu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ED534-0C28-474B-9861-0E287BCC9D25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Basic önişleme ile en yüksek F1, TF-IDF + Logistic Regression modelinden geldi.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A46792-6954-4C5C-9CFD-600113846DB5}"/>
              </a:ext>
            </a:extLst>
          </p:cNvPr>
          <p:cNvSpPr>
            <a:spLocks noGrp="1"/>
          </p:cNvSpPr>
          <p:nvPr/>
        </p:nvSpPr>
        <p:spPr>
          <a:xfrm>
            <a:off x="628650" y="2324100"/>
            <a:ext cx="6572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1816" y="2533650"/>
            <a:ext cx="5464969" cy="29146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FA358A0-664F-4BFE-95BD-DC443BEB94F2}"/>
              </a:ext>
            </a:extLst>
          </p:cNvPr>
          <p:cNvSpPr>
            <a:spLocks noGrp="1"/>
          </p:cNvSpPr>
          <p:nvPr/>
        </p:nvSpPr>
        <p:spPr>
          <a:xfrm>
            <a:off x="7677150" y="2324100"/>
            <a:ext cx="2952750" cy="37338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2BD2D-F3E4-410D-BB16-711502122B09}"/>
              </a:ext>
            </a:extLst>
          </p:cNvPr>
          <p:cNvSpPr>
            <a:spLocks noGrp="1"/>
          </p:cNvSpPr>
          <p:nvPr/>
        </p:nvSpPr>
        <p:spPr>
          <a:xfrm>
            <a:off x="8058150" y="2781300"/>
            <a:ext cx="9525" cy="57150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FA2096-D17E-4E1F-80F7-1DE57FB23BB1}"/>
              </a:ext>
            </a:extLst>
          </p:cNvPr>
          <p:cNvSpPr>
            <a:spLocks noGrp="1"/>
          </p:cNvSpPr>
          <p:nvPr/>
        </p:nvSpPr>
        <p:spPr>
          <a:xfrm>
            <a:off x="8210550" y="285750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87.87%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F937D5-6E10-4D80-9358-0E2FC1871454}"/>
              </a:ext>
            </a:extLst>
          </p:cNvPr>
          <p:cNvSpPr>
            <a:spLocks noGrp="1"/>
          </p:cNvSpPr>
          <p:nvPr/>
        </p:nvSpPr>
        <p:spPr>
          <a:xfrm>
            <a:off x="8210550" y="32194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EN IYI F1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296EEC-0E6E-4A24-B6B8-9933027BF97D}"/>
              </a:ext>
            </a:extLst>
          </p:cNvPr>
          <p:cNvSpPr>
            <a:spLocks noGrp="1"/>
          </p:cNvSpPr>
          <p:nvPr/>
        </p:nvSpPr>
        <p:spPr>
          <a:xfrm>
            <a:off x="8210550" y="33909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 + LR / basic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186C7B-A42D-4CC3-85DD-1903D2741C61}"/>
              </a:ext>
            </a:extLst>
          </p:cNvPr>
          <p:cNvSpPr>
            <a:spLocks noGrp="1"/>
          </p:cNvSpPr>
          <p:nvPr/>
        </p:nvSpPr>
        <p:spPr>
          <a:xfrm>
            <a:off x="8058150" y="3752850"/>
            <a:ext cx="9525" cy="57150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F855B2-7F18-49BA-8463-C53424556E8C}"/>
              </a:ext>
            </a:extLst>
          </p:cNvPr>
          <p:cNvSpPr>
            <a:spLocks noGrp="1"/>
          </p:cNvSpPr>
          <p:nvPr/>
        </p:nvSpPr>
        <p:spPr>
          <a:xfrm>
            <a:off x="8210550" y="3829050"/>
            <a:ext cx="1714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87.15%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DC281A-5AAC-4EA0-A7C9-1FF4D685DCE2}"/>
              </a:ext>
            </a:extLst>
          </p:cNvPr>
          <p:cNvSpPr>
            <a:spLocks noGrp="1"/>
          </p:cNvSpPr>
          <p:nvPr/>
        </p:nvSpPr>
        <p:spPr>
          <a:xfrm>
            <a:off x="8210550" y="419100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SVM F1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CA2C29-482A-4234-A7CF-BC3557D45A16}"/>
              </a:ext>
            </a:extLst>
          </p:cNvPr>
          <p:cNvSpPr>
            <a:spLocks noGrp="1"/>
          </p:cNvSpPr>
          <p:nvPr/>
        </p:nvSpPr>
        <p:spPr>
          <a:xfrm>
            <a:off x="8210550" y="43624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TF-IDF + SVM / basic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11F584-AB26-42CA-AF8B-9A67801CD242}"/>
              </a:ext>
            </a:extLst>
          </p:cNvPr>
          <p:cNvSpPr>
            <a:spLocks noGrp="1"/>
          </p:cNvSpPr>
          <p:nvPr/>
        </p:nvSpPr>
        <p:spPr>
          <a:xfrm>
            <a:off x="8058150" y="4724400"/>
            <a:ext cx="9525" cy="5715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BFEDBB-8BFB-4AC2-A073-469F0A2FB3CF}"/>
              </a:ext>
            </a:extLst>
          </p:cNvPr>
          <p:cNvSpPr>
            <a:spLocks noGrp="1"/>
          </p:cNvSpPr>
          <p:nvPr/>
        </p:nvSpPr>
        <p:spPr>
          <a:xfrm>
            <a:off x="8210550" y="48006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65.38%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18C6D5-5615-4714-8EA3-74684F63C0A6}"/>
              </a:ext>
            </a:extLst>
          </p:cNvPr>
          <p:cNvSpPr>
            <a:spLocks noGrp="1"/>
          </p:cNvSpPr>
          <p:nvPr/>
        </p:nvSpPr>
        <p:spPr>
          <a:xfrm>
            <a:off x="8210550" y="5162550"/>
            <a:ext cx="1809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TEXTCNN F1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CFC8EF-017D-47AC-BB20-2E1D2BD86ACE}"/>
              </a:ext>
            </a:extLst>
          </p:cNvPr>
          <p:cNvSpPr>
            <a:spLocks noGrp="1"/>
          </p:cNvSpPr>
          <p:nvPr/>
        </p:nvSpPr>
        <p:spPr>
          <a:xfrm>
            <a:off x="8210550" y="53340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2 epoch, sınırlı veri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825C9C-68CD-4620-8AB2-F03EC98897B2}"/>
              </a:ext>
            </a:extLst>
          </p:cNvPr>
          <p:cNvSpPr>
            <a:spLocks noGrp="1"/>
          </p:cNvSpPr>
          <p:nvPr/>
        </p:nvSpPr>
        <p:spPr>
          <a:xfrm>
            <a:off x="8020050" y="56769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5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Derin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modeller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optimize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edilmeden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güçlü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klasik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yöntemleri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 </a:t>
            </a:r>
            <a:r>
              <a:rPr sz="765" b="0" dirty="0" err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geçemedi</a:t>
            </a:r>
            <a:r>
              <a:rPr sz="765" b="0" dirty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0461A6-6F61-47CA-96F2-C7838DF3A04C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C1AC2F-23B0-4F80-A827-500C52C40A20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695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389DA8A-E4E2-46FA-89C6-9A3700C0A8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3-marker">
            <a:extLst>
              <a:ext uri="{FF2B5EF4-FFF2-40B4-BE49-F238E27FC236}">
                <a16:creationId xmlns:a16="http://schemas.microsoft.com/office/drawing/2014/main" id="{5F327F73-97F0-4321-B34C-7456368A6A2E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3-label">
            <a:extLst>
              <a:ext uri="{FF2B5EF4-FFF2-40B4-BE49-F238E27FC236}">
                <a16:creationId xmlns:a16="http://schemas.microsoft.com/office/drawing/2014/main" id="{A0D4E9B6-327C-42C7-8222-B19B2A335128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FF99C4-663E-42DE-947A-651558569F24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Önişleme etkisi modelden modele değişti; tek doğru temizlik yok.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F885D5-FFC0-4A19-A47A-A510D2BA7074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DBBD86-B508-444E-A716-608D4479EE49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7239000" cy="3581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75655" y="2476500"/>
            <a:ext cx="5440240" cy="31432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852FDF7-FF40-413A-B041-2D1AE0ACD7AF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2476500" cy="260985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D0A296-03D0-4241-AB7E-DEA3D74B2E21}"/>
              </a:ext>
            </a:extLst>
          </p:cNvPr>
          <p:cNvSpPr>
            <a:spLocks noGrp="1"/>
          </p:cNvSpPr>
          <p:nvPr/>
        </p:nvSpPr>
        <p:spPr>
          <a:xfrm>
            <a:off x="8610600" y="28384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Okuma rehberi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6D6324-610F-4901-BAEF-08889CA870CA}"/>
              </a:ext>
            </a:extLst>
          </p:cNvPr>
          <p:cNvSpPr>
            <a:spLocks noGrp="1"/>
          </p:cNvSpPr>
          <p:nvPr/>
        </p:nvSpPr>
        <p:spPr>
          <a:xfrm>
            <a:off x="8610600" y="3143250"/>
            <a:ext cx="19431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Klasik TF-IDF modelleri üst bantta stabil kaldı. Stopword temizleme bazı modellerde F1'i düşürdü. Neural modeller daha oynak sonuç verdi.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D4451-FF37-4839-88AE-153F8AB78914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1905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Sonuç: temizlik kararını varsaymak yerine deneyle doğrulamak gerekir.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0B2246-B9CD-4D2D-B292-08390E5D6767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FC3918-E260-4031-A994-0B124EAB12D3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865531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96C4933-973D-461B-98DC-EABC1EB2D9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4-marker">
            <a:extLst>
              <a:ext uri="{FF2B5EF4-FFF2-40B4-BE49-F238E27FC236}">
                <a16:creationId xmlns:a16="http://schemas.microsoft.com/office/drawing/2014/main" id="{2AEC7F40-9504-47F4-BC9A-09A38277EF5C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4-label">
            <a:extLst>
              <a:ext uri="{FF2B5EF4-FFF2-40B4-BE49-F238E27FC236}">
                <a16:creationId xmlns:a16="http://schemas.microsoft.com/office/drawing/2014/main" id="{DE84BAEA-B239-4A68-9466-78B7AC9952DE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3CA77D-AE44-41C7-8707-69B03903D6B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Süre/F1 grafiği, en iyi çözümün sadece daha karmaşık model olmadığını gösterir.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068D42-11AE-42CE-8688-DA77649E68FA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6D9B43-2E12-4D22-8DAD-DDD2D7C82DAA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5905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9339" y="2533650"/>
            <a:ext cx="4613672" cy="2952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F6DED35-145A-45BF-B0F4-BB01CBE28BB1}"/>
              </a:ext>
            </a:extLst>
          </p:cNvPr>
          <p:cNvSpPr>
            <a:spLocks noGrp="1"/>
          </p:cNvSpPr>
          <p:nvPr/>
        </p:nvSpPr>
        <p:spPr>
          <a:xfrm>
            <a:off x="7162800" y="2324100"/>
            <a:ext cx="3676650" cy="34290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80850E-E0E2-48AA-B1AE-70CECFF38CA5}"/>
              </a:ext>
            </a:extLst>
          </p:cNvPr>
          <p:cNvSpPr>
            <a:spLocks noGrp="1"/>
          </p:cNvSpPr>
          <p:nvPr/>
        </p:nvSpPr>
        <p:spPr>
          <a:xfrm>
            <a:off x="7448550" y="26670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Model seçme gerekçesi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2ECFC7-1031-4171-8CD6-C48A68F1CA8C}"/>
              </a:ext>
            </a:extLst>
          </p:cNvPr>
          <p:cNvSpPr>
            <a:spLocks noGrp="1"/>
          </p:cNvSpPr>
          <p:nvPr/>
        </p:nvSpPr>
        <p:spPr>
          <a:xfrm>
            <a:off x="7448550" y="31242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C45A35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C45A35"/>
                </a:solidFill>
                <a:latin typeface="Georgia"/>
                <a:ea typeface="Georgia"/>
                <a:cs typeface="Georgia"/>
              </a:rPr>
              <a:t>TF-IDF + LR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F2F9EE-14D6-4650-B333-92F1394AB5BB}"/>
              </a:ext>
            </a:extLst>
          </p:cNvPr>
          <p:cNvSpPr>
            <a:spLocks noGrp="1"/>
          </p:cNvSpPr>
          <p:nvPr/>
        </p:nvSpPr>
        <p:spPr>
          <a:xfrm>
            <a:off x="7448550" y="34290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Yüksek F1, hızlı eğitim, güçlü baseline.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FD89A4-DD5F-4449-9419-C124F906A6D6}"/>
              </a:ext>
            </a:extLst>
          </p:cNvPr>
          <p:cNvSpPr>
            <a:spLocks noGrp="1"/>
          </p:cNvSpPr>
          <p:nvPr/>
        </p:nvSpPr>
        <p:spPr>
          <a:xfrm>
            <a:off x="7448550" y="401955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F8A86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1F8A86"/>
                </a:solidFill>
                <a:latin typeface="Georgia"/>
                <a:ea typeface="Georgia"/>
                <a:cs typeface="Georgia"/>
              </a:rPr>
              <a:t>TextCNN / BiLSTM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5821A-FA60-4213-8D89-EE6EF30BA420}"/>
              </a:ext>
            </a:extLst>
          </p:cNvPr>
          <p:cNvSpPr>
            <a:spLocks noGrp="1"/>
          </p:cNvSpPr>
          <p:nvPr/>
        </p:nvSpPr>
        <p:spPr>
          <a:xfrm>
            <a:off x="7448550" y="4324350"/>
            <a:ext cx="2762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Bağlam potansiyeli var; fakat sınırlı epoch ve veriyle stabil değil.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DA668A-024D-43CC-84E7-064DF7FCCFDB}"/>
              </a:ext>
            </a:extLst>
          </p:cNvPr>
          <p:cNvSpPr>
            <a:spLocks noGrp="1"/>
          </p:cNvSpPr>
          <p:nvPr/>
        </p:nvSpPr>
        <p:spPr>
          <a:xfrm>
            <a:off x="7448550" y="4972050"/>
            <a:ext cx="123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Gelecek adım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8F4BDE-3B3C-48EF-B3AA-7793D24013FA}"/>
              </a:ext>
            </a:extLst>
          </p:cNvPr>
          <p:cNvSpPr>
            <a:spLocks noGrp="1"/>
          </p:cNvSpPr>
          <p:nvPr/>
        </p:nvSpPr>
        <p:spPr>
          <a:xfrm>
            <a:off x="7448550" y="5219700"/>
            <a:ext cx="2667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Validation split + hiperparametre araması + tam 25k eğitim.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EF22AE-05EB-436E-AE2B-573DB90D500D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4A3571-9746-4C19-B13F-0FF9BD5FBD36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9C206E-D1ED-4D9F-BF64-46BC546FA93C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57232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A932659-E95F-4301-9142-268C098CFA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5-marker">
            <a:extLst>
              <a:ext uri="{FF2B5EF4-FFF2-40B4-BE49-F238E27FC236}">
                <a16:creationId xmlns:a16="http://schemas.microsoft.com/office/drawing/2014/main" id="{D1BD8A83-6EF8-48D4-ADC9-3F550E500684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14618-D499-41E6-915B-0E2A7A3CA161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En iyi baseline yüksek F1'i dengeli hata dağılımıyla verdi.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9458D-7551-46E5-85CA-DF8F27FDF306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C26AC0-462D-4350-8A91-0E1D7A5D4E21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51435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52563" y="2495550"/>
            <a:ext cx="3571875" cy="2857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CD7FF13-DAFA-4A3F-ACA9-58EEB13D9F7C}"/>
              </a:ext>
            </a:extLst>
          </p:cNvPr>
          <p:cNvSpPr>
            <a:spLocks noGrp="1"/>
          </p:cNvSpPr>
          <p:nvPr/>
        </p:nvSpPr>
        <p:spPr>
          <a:xfrm>
            <a:off x="6572250" y="2266950"/>
            <a:ext cx="4000500" cy="34290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2D4046-56A0-4689-979E-84F0A73944B3}"/>
              </a:ext>
            </a:extLst>
          </p:cNvPr>
          <p:cNvSpPr>
            <a:spLocks noGrp="1"/>
          </p:cNvSpPr>
          <p:nvPr/>
        </p:nvSpPr>
        <p:spPr>
          <a:xfrm>
            <a:off x="6953250" y="2800350"/>
            <a:ext cx="9525" cy="57150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42BAA5-BCC8-4DA0-B602-29F5FECF4E99}"/>
              </a:ext>
            </a:extLst>
          </p:cNvPr>
          <p:cNvSpPr>
            <a:spLocks noGrp="1"/>
          </p:cNvSpPr>
          <p:nvPr/>
        </p:nvSpPr>
        <p:spPr>
          <a:xfrm>
            <a:off x="7105650" y="287655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877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F5BDE-8DDF-4191-8E8C-E1AE273B2258}"/>
              </a:ext>
            </a:extLst>
          </p:cNvPr>
          <p:cNvSpPr>
            <a:spLocks noGrp="1"/>
          </p:cNvSpPr>
          <p:nvPr/>
        </p:nvSpPr>
        <p:spPr>
          <a:xfrm>
            <a:off x="7105650" y="3238500"/>
            <a:ext cx="1504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TRUE NEGATIVE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DE15FC-2F98-45CB-9D90-BC9D9697DE58}"/>
              </a:ext>
            </a:extLst>
          </p:cNvPr>
          <p:cNvSpPr>
            <a:spLocks noGrp="1"/>
          </p:cNvSpPr>
          <p:nvPr/>
        </p:nvSpPr>
        <p:spPr>
          <a:xfrm>
            <a:off x="7105650" y="34099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negatif yorumu doğru yakaladı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502831C-A66A-43D8-A43A-C3B89C5A068D}"/>
              </a:ext>
            </a:extLst>
          </p:cNvPr>
          <p:cNvSpPr>
            <a:spLocks noGrp="1"/>
          </p:cNvSpPr>
          <p:nvPr/>
        </p:nvSpPr>
        <p:spPr>
          <a:xfrm>
            <a:off x="8572500" y="2800350"/>
            <a:ext cx="9525" cy="57150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837AF6-50C1-4CC9-944A-B9D0318645FD}"/>
              </a:ext>
            </a:extLst>
          </p:cNvPr>
          <p:cNvSpPr>
            <a:spLocks noGrp="1"/>
          </p:cNvSpPr>
          <p:nvPr/>
        </p:nvSpPr>
        <p:spPr>
          <a:xfrm>
            <a:off x="8724900" y="287655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880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BD5622-7F5D-41BA-A790-5FA923102AC4}"/>
              </a:ext>
            </a:extLst>
          </p:cNvPr>
          <p:cNvSpPr>
            <a:spLocks noGrp="1"/>
          </p:cNvSpPr>
          <p:nvPr/>
        </p:nvSpPr>
        <p:spPr>
          <a:xfrm>
            <a:off x="8724900" y="3238500"/>
            <a:ext cx="1504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TRUE POSITIVE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AA4F6F-7D5E-4421-B3A1-C80A9D573C05}"/>
              </a:ext>
            </a:extLst>
          </p:cNvPr>
          <p:cNvSpPr>
            <a:spLocks noGrp="1"/>
          </p:cNvSpPr>
          <p:nvPr/>
        </p:nvSpPr>
        <p:spPr>
          <a:xfrm>
            <a:off x="8724900" y="340995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pozitif yorumu doğru yakaladı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ECFAAF-AC6E-4BFB-B36F-4A6C7BF2C82A}"/>
              </a:ext>
            </a:extLst>
          </p:cNvPr>
          <p:cNvSpPr>
            <a:spLocks noGrp="1"/>
          </p:cNvSpPr>
          <p:nvPr/>
        </p:nvSpPr>
        <p:spPr>
          <a:xfrm>
            <a:off x="6953250" y="3962400"/>
            <a:ext cx="9525" cy="57150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C64068-A503-4C49-8B51-6C3CBAFCFEE2}"/>
              </a:ext>
            </a:extLst>
          </p:cNvPr>
          <p:cNvSpPr>
            <a:spLocks noGrp="1"/>
          </p:cNvSpPr>
          <p:nvPr/>
        </p:nvSpPr>
        <p:spPr>
          <a:xfrm>
            <a:off x="7105650" y="403860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53D1BA-41FB-4A19-9455-A1C351BC2FD7}"/>
              </a:ext>
            </a:extLst>
          </p:cNvPr>
          <p:cNvSpPr>
            <a:spLocks noGrp="1"/>
          </p:cNvSpPr>
          <p:nvPr/>
        </p:nvSpPr>
        <p:spPr>
          <a:xfrm>
            <a:off x="7105650" y="4400550"/>
            <a:ext cx="1504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FALSE POSITIVE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686CDF-A4BE-4E01-A21C-595A32440E50}"/>
              </a:ext>
            </a:extLst>
          </p:cNvPr>
          <p:cNvSpPr>
            <a:spLocks noGrp="1"/>
          </p:cNvSpPr>
          <p:nvPr/>
        </p:nvSpPr>
        <p:spPr>
          <a:xfrm>
            <a:off x="7105650" y="45720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negatif yorum pozitif dendi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6185E8-EF5D-49A7-BF10-DD30EF4544D4}"/>
              </a:ext>
            </a:extLst>
          </p:cNvPr>
          <p:cNvSpPr>
            <a:spLocks noGrp="1"/>
          </p:cNvSpPr>
          <p:nvPr/>
        </p:nvSpPr>
        <p:spPr>
          <a:xfrm>
            <a:off x="8572500" y="3962400"/>
            <a:ext cx="9525" cy="571500"/>
          </a:xfrm>
          <a:prstGeom prst="rect">
            <a:avLst/>
          </a:prstGeom>
          <a:solidFill>
            <a:srgbClr val="9CC5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A9A9EB-BB52-4DA0-9BCA-8277F18CC17D}"/>
              </a:ext>
            </a:extLst>
          </p:cNvPr>
          <p:cNvSpPr>
            <a:spLocks noGrp="1"/>
          </p:cNvSpPr>
          <p:nvPr/>
        </p:nvSpPr>
        <p:spPr>
          <a:xfrm>
            <a:off x="8724900" y="4038600"/>
            <a:ext cx="1504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A8F5F1-8358-49C0-A32C-7D8CD864A2FC}"/>
              </a:ext>
            </a:extLst>
          </p:cNvPr>
          <p:cNvSpPr>
            <a:spLocks noGrp="1"/>
          </p:cNvSpPr>
          <p:nvPr/>
        </p:nvSpPr>
        <p:spPr>
          <a:xfrm>
            <a:off x="8724900" y="4400550"/>
            <a:ext cx="1504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FALSE NEGATIVE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6DE8CC-61CC-459D-849A-9022631FBDEA}"/>
              </a:ext>
            </a:extLst>
          </p:cNvPr>
          <p:cNvSpPr>
            <a:spLocks noGrp="1"/>
          </p:cNvSpPr>
          <p:nvPr/>
        </p:nvSpPr>
        <p:spPr>
          <a:xfrm>
            <a:off x="8724900" y="4572000"/>
            <a:ext cx="1504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615" b="0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pozitif yorum negatif dendi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145138-B571-4948-8E1A-AA4B192A49AE}"/>
              </a:ext>
            </a:extLst>
          </p:cNvPr>
          <p:cNvSpPr>
            <a:spLocks noGrp="1"/>
          </p:cNvSpPr>
          <p:nvPr/>
        </p:nvSpPr>
        <p:spPr>
          <a:xfrm>
            <a:off x="6953250" y="5200650"/>
            <a:ext cx="304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Soru-cevap için: yanlış örnekleri okuyup ironi, negation ve çok uzun yorum etkisi incelenebilir.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FA7516-B2E8-43EB-A6A3-C0F07983EC39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BD2A655-5E0A-49E0-9314-075A427A8CEF}"/>
              </a:ext>
            </a:extLst>
          </p:cNvPr>
          <p:cNvSpPr>
            <a:spLocks noGrp="1"/>
          </p:cNvSpPr>
          <p:nvPr/>
        </p:nvSpPr>
        <p:spPr>
          <a:xfrm>
            <a:off x="552450" y="6438900"/>
            <a:ext cx="8858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6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843710-F7D4-4B06-93D1-C01FCB1A386D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71095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FD7439A-E1BE-4CB8-969E-A62BE5924D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6-marker">
            <a:extLst>
              <a:ext uri="{FF2B5EF4-FFF2-40B4-BE49-F238E27FC236}">
                <a16:creationId xmlns:a16="http://schemas.microsoft.com/office/drawing/2014/main" id="{9243DB6A-FEC9-404A-8BB8-B2178BA3E00B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FA927-B540-4F64-B970-1BE335B9E947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Sonuçlar güçlü bir ilk deneydir; nihai benchmark iddiası değildir.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0EF03-7A30-4115-9F2D-33C23D3B2CD9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94EF73-06B1-44B5-8E9E-17984F743DB8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2857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839CC-1AB8-404C-8E1A-A602AA8EAE94}"/>
              </a:ext>
            </a:extLst>
          </p:cNvPr>
          <p:cNvSpPr>
            <a:spLocks noGrp="1"/>
          </p:cNvSpPr>
          <p:nvPr/>
        </p:nvSpPr>
        <p:spPr>
          <a:xfrm>
            <a:off x="914400" y="2724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 Alt örneklem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6CE54-A68C-4DE0-8121-92DA1D0F205A}"/>
              </a:ext>
            </a:extLst>
          </p:cNvPr>
          <p:cNvSpPr>
            <a:spLocks noGrp="1"/>
          </p:cNvSpPr>
          <p:nvPr/>
        </p:nvSpPr>
        <p:spPr>
          <a:xfrm>
            <a:off x="914400" y="3009900"/>
            <a:ext cx="25146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Deneyler hızlı üretilebilirlik için 1000/class train-test alt kümesiyle koşuldu.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CACFED-001E-4186-8B5B-36B9B0058C91}"/>
              </a:ext>
            </a:extLst>
          </p:cNvPr>
          <p:cNvSpPr>
            <a:spLocks noGrp="1"/>
          </p:cNvSpPr>
          <p:nvPr/>
        </p:nvSpPr>
        <p:spPr>
          <a:xfrm>
            <a:off x="4229100" y="2571750"/>
            <a:ext cx="2857500" cy="1409700"/>
          </a:xfrm>
          <a:prstGeom prst="rect">
            <a:avLst/>
          </a:prstGeom>
          <a:solidFill>
            <a:srgbClr val="FBF8F1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8A222B-89FD-4E57-BFA9-7F53D3DA3606}"/>
              </a:ext>
            </a:extLst>
          </p:cNvPr>
          <p:cNvSpPr>
            <a:spLocks noGrp="1"/>
          </p:cNvSpPr>
          <p:nvPr/>
        </p:nvSpPr>
        <p:spPr>
          <a:xfrm>
            <a:off x="4400550" y="2724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 Neural optimizasyon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EE3B03-D257-42A5-95AD-24EB09A2D5A6}"/>
              </a:ext>
            </a:extLst>
          </p:cNvPr>
          <p:cNvSpPr>
            <a:spLocks noGrp="1"/>
          </p:cNvSpPr>
          <p:nvPr/>
        </p:nvSpPr>
        <p:spPr>
          <a:xfrm>
            <a:off x="4400550" y="3009900"/>
            <a:ext cx="25146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TextCNN, BiLSTM ve hibrit modeller sınırlı epoch ile koşuldu; validation tuning yapılmadı.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94E236-80A2-4E61-AFEA-38B214772839}"/>
              </a:ext>
            </a:extLst>
          </p:cNvPr>
          <p:cNvSpPr>
            <a:spLocks noGrp="1"/>
          </p:cNvSpPr>
          <p:nvPr/>
        </p:nvSpPr>
        <p:spPr>
          <a:xfrm>
            <a:off x="7715250" y="2571750"/>
            <a:ext cx="285750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D8EF3A-97ED-4715-883E-D1FBA2D38EAF}"/>
              </a:ext>
            </a:extLst>
          </p:cNvPr>
          <p:cNvSpPr>
            <a:spLocks noGrp="1"/>
          </p:cNvSpPr>
          <p:nvPr/>
        </p:nvSpPr>
        <p:spPr>
          <a:xfrm>
            <a:off x="7886700" y="2724150"/>
            <a:ext cx="2514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 Hata analizi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CBD174-93BF-4698-8247-4C0029A41DB5}"/>
              </a:ext>
            </a:extLst>
          </p:cNvPr>
          <p:cNvSpPr>
            <a:spLocks noGrp="1"/>
          </p:cNvSpPr>
          <p:nvPr/>
        </p:nvSpPr>
        <p:spPr>
          <a:xfrm>
            <a:off x="7886700" y="3009900"/>
            <a:ext cx="25146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80" b="0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Yanlış sınıflandırılan gerçek yorum örnekleri ayrıca nitel olarak incelenmeli.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D4995-855B-4F5D-9344-6D85451EC21A}"/>
              </a:ext>
            </a:extLst>
          </p:cNvPr>
          <p:cNvSpPr>
            <a:spLocks noGrp="1"/>
          </p:cNvSpPr>
          <p:nvPr/>
        </p:nvSpPr>
        <p:spPr>
          <a:xfrm>
            <a:off x="2133600" y="4991100"/>
            <a:ext cx="695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endParaRPr sz="1275" b="1" dirty="0">
              <a:solidFill>
                <a:srgbClr val="FFFFFF"/>
              </a:solidFill>
              <a:latin typeface="Georgia"/>
              <a:ea typeface="Georgia"/>
              <a:cs typeface="Georgia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205512-3CA5-4862-839C-46F3BD8D3D5C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9F0296-FD48-437C-823B-4359CB7484D3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20577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8EE1FB0A-D538-42D8-A965-A267B9621E7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7-marker">
            <a:extLst>
              <a:ext uri="{FF2B5EF4-FFF2-40B4-BE49-F238E27FC236}">
                <a16:creationId xmlns:a16="http://schemas.microsoft.com/office/drawing/2014/main" id="{C2CB8847-3DBB-4E4A-8D09-52272B045F29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E8EB98-00DE-4529-9BE1-291E5E74310D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Sonuç: en iyi proje hikayesi, en iyi modeli bulmaktan önce iyi karşılaştırma kurmaktır.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546D8F-1456-4235-AAFF-99B675958173}"/>
              </a:ext>
            </a:extLst>
          </p:cNvPr>
          <p:cNvSpPr>
            <a:spLocks noGrp="1"/>
          </p:cNvSpPr>
          <p:nvPr/>
        </p:nvSpPr>
        <p:spPr>
          <a:xfrm>
            <a:off x="762000" y="2781300"/>
            <a:ext cx="9906000" cy="1790700"/>
          </a:xfrm>
          <a:prstGeom prst="rect">
            <a:avLst/>
          </a:prstGeom>
          <a:solidFill>
            <a:srgbClr val="1A2530"/>
          </a:solidFill>
          <a:ln w="9525">
            <a:solidFill>
              <a:srgbClr val="344152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C20F64-CD1B-4CA6-BF6B-EEF0921030F7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C45A35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45A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7B7044-D42C-4D96-9BB2-5992483C80DF}"/>
              </a:ext>
            </a:extLst>
          </p:cNvPr>
          <p:cNvSpPr>
            <a:spLocks noGrp="1"/>
          </p:cNvSpPr>
          <p:nvPr/>
        </p:nvSpPr>
        <p:spPr>
          <a:xfrm>
            <a:off x="1600200" y="3248025"/>
            <a:ext cx="1238250" cy="19050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E6B244-F42A-4AE6-ADDA-7B82B649B0AA}"/>
              </a:ext>
            </a:extLst>
          </p:cNvPr>
          <p:cNvSpPr>
            <a:spLocks noGrp="1"/>
          </p:cNvSpPr>
          <p:nvPr/>
        </p:nvSpPr>
        <p:spPr>
          <a:xfrm>
            <a:off x="1104900" y="3562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Tam veri koşusu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427D2E-62D3-4F47-ACDA-714FB46B9EE2}"/>
              </a:ext>
            </a:extLst>
          </p:cNvPr>
          <p:cNvSpPr>
            <a:spLocks noGrp="1"/>
          </p:cNvSpPr>
          <p:nvPr/>
        </p:nvSpPr>
        <p:spPr>
          <a:xfrm>
            <a:off x="1104900" y="3829050"/>
            <a:ext cx="1866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25k train + 25k test ile nihai tabloyu üret.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723E8-6BF4-465A-83D6-E66B8CB868F7}"/>
              </a:ext>
            </a:extLst>
          </p:cNvPr>
          <p:cNvSpPr>
            <a:spLocks noGrp="1"/>
          </p:cNvSpPr>
          <p:nvPr/>
        </p:nvSpPr>
        <p:spPr>
          <a:xfrm>
            <a:off x="3543300" y="310515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F8A8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F8A8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0809A7-DBCD-4BE8-8229-57FAE857DCF9}"/>
              </a:ext>
            </a:extLst>
          </p:cNvPr>
          <p:cNvSpPr>
            <a:spLocks noGrp="1"/>
          </p:cNvSpPr>
          <p:nvPr/>
        </p:nvSpPr>
        <p:spPr>
          <a:xfrm>
            <a:off x="4038600" y="3248025"/>
            <a:ext cx="1238250" cy="19050"/>
          </a:xfrm>
          <a:prstGeom prst="rect">
            <a:avLst/>
          </a:prstGeom>
          <a:solidFill>
            <a:srgbClr val="1F8A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7F5030-FD6B-4C13-9598-D635D07CEC02}"/>
              </a:ext>
            </a:extLst>
          </p:cNvPr>
          <p:cNvSpPr>
            <a:spLocks noGrp="1"/>
          </p:cNvSpPr>
          <p:nvPr/>
        </p:nvSpPr>
        <p:spPr>
          <a:xfrm>
            <a:off x="3543300" y="3562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Validation tuning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48D1CF-E8CE-47BD-AD8D-6E57C4666D60}"/>
              </a:ext>
            </a:extLst>
          </p:cNvPr>
          <p:cNvSpPr>
            <a:spLocks noGrp="1"/>
          </p:cNvSpPr>
          <p:nvPr/>
        </p:nvSpPr>
        <p:spPr>
          <a:xfrm>
            <a:off x="3543300" y="3829050"/>
            <a:ext cx="1866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Epoch, dropout, max_len, vocab_size ve batch size ara.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3A1BD0-77CE-461A-BA54-B7CB827FBB5D}"/>
              </a:ext>
            </a:extLst>
          </p:cNvPr>
          <p:cNvSpPr>
            <a:spLocks noGrp="1"/>
          </p:cNvSpPr>
          <p:nvPr/>
        </p:nvSpPr>
        <p:spPr>
          <a:xfrm>
            <a:off x="5981700" y="310515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9A44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9A441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62E61B-6EF3-4F70-A5BC-7DE092638A76}"/>
              </a:ext>
            </a:extLst>
          </p:cNvPr>
          <p:cNvSpPr>
            <a:spLocks noGrp="1"/>
          </p:cNvSpPr>
          <p:nvPr/>
        </p:nvSpPr>
        <p:spPr>
          <a:xfrm>
            <a:off x="6477000" y="3248025"/>
            <a:ext cx="1238250" cy="19050"/>
          </a:xfrm>
          <a:prstGeom prst="rect">
            <a:avLst/>
          </a:prstGeom>
          <a:solidFill>
            <a:srgbClr val="D9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E03272-DFCF-40A7-BD72-AAD13A44816D}"/>
              </a:ext>
            </a:extLst>
          </p:cNvPr>
          <p:cNvSpPr>
            <a:spLocks noGrp="1"/>
          </p:cNvSpPr>
          <p:nvPr/>
        </p:nvSpPr>
        <p:spPr>
          <a:xfrm>
            <a:off x="5981700" y="3562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Transformer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1AB4D8-EB86-4BCA-8AC7-36746D0ED76A}"/>
              </a:ext>
            </a:extLst>
          </p:cNvPr>
          <p:cNvSpPr>
            <a:spLocks noGrp="1"/>
          </p:cNvSpPr>
          <p:nvPr/>
        </p:nvSpPr>
        <p:spPr>
          <a:xfrm>
            <a:off x="5981700" y="3829050"/>
            <a:ext cx="1866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BERT/DistilBERT ile subword ve bağlam duyarlılığını ölç.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8FF432-BDD8-4163-856A-0B07733C69C0}"/>
              </a:ext>
            </a:extLst>
          </p:cNvPr>
          <p:cNvSpPr>
            <a:spLocks noGrp="1"/>
          </p:cNvSpPr>
          <p:nvPr/>
        </p:nvSpPr>
        <p:spPr>
          <a:xfrm>
            <a:off x="8420100" y="3105150"/>
            <a:ext cx="438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9CC5C1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9CC5C1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96BDDB-2447-4300-85EF-2B8A034859C3}"/>
              </a:ext>
            </a:extLst>
          </p:cNvPr>
          <p:cNvSpPr>
            <a:spLocks noGrp="1"/>
          </p:cNvSpPr>
          <p:nvPr/>
        </p:nvSpPr>
        <p:spPr>
          <a:xfrm>
            <a:off x="8915400" y="3248025"/>
            <a:ext cx="1238250" cy="19050"/>
          </a:xfrm>
          <a:prstGeom prst="rect">
            <a:avLst/>
          </a:prstGeom>
          <a:solidFill>
            <a:srgbClr val="9CC5C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ECBF6E-06D2-4016-9206-3C9AB529A7F1}"/>
              </a:ext>
            </a:extLst>
          </p:cNvPr>
          <p:cNvSpPr>
            <a:spLocks noGrp="1"/>
          </p:cNvSpPr>
          <p:nvPr/>
        </p:nvSpPr>
        <p:spPr>
          <a:xfrm>
            <a:off x="8420100" y="3562350"/>
            <a:ext cx="1714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Nitel hata analizi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9DE433-0984-4136-8CF9-D0A23772CE0A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1866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defRPr>
            </a:pPr>
            <a:r>
              <a:rPr sz="705" b="0">
                <a:solidFill>
                  <a:srgbClr val="DCE4ED"/>
                </a:solidFill>
                <a:latin typeface="Avenir Next"/>
                <a:ea typeface="Avenir Next"/>
                <a:cs typeface="Avenir Next"/>
              </a:rPr>
              <a:t>Yanlış örneklerde ironi, negation ve uzun bağlamı sınıflandır.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E796355-2407-4AD7-9B61-0EF53231BF98}"/>
              </a:ext>
            </a:extLst>
          </p:cNvPr>
          <p:cNvSpPr>
            <a:spLocks noGrp="1"/>
          </p:cNvSpPr>
          <p:nvPr/>
        </p:nvSpPr>
        <p:spPr>
          <a:xfrm>
            <a:off x="1447800" y="5105400"/>
            <a:ext cx="8191500" cy="533400"/>
          </a:xfrm>
          <a:prstGeom prst="rect">
            <a:avLst/>
          </a:prstGeom>
          <a:solidFill>
            <a:srgbClr val="EFE6D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E10D98-ED5F-4E70-9B78-2CE96B8A9E6C}"/>
              </a:ext>
            </a:extLst>
          </p:cNvPr>
          <p:cNvSpPr>
            <a:spLocks noGrp="1"/>
          </p:cNvSpPr>
          <p:nvPr/>
        </p:nvSpPr>
        <p:spPr>
          <a:xfrm>
            <a:off x="1714500" y="52578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13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94ED61-07FB-41D2-9290-7950A0B8EB6F}"/>
              </a:ext>
            </a:extLst>
          </p:cNvPr>
          <p:cNvSpPr>
            <a:spLocks noGrp="1"/>
          </p:cNvSpPr>
          <p:nvPr/>
        </p:nvSpPr>
        <p:spPr>
          <a:xfrm>
            <a:off x="1524000" y="5257800"/>
            <a:ext cx="81915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Bu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çalışma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, IMDb sentiment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probleminde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model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seçiminin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ancak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önişleme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ve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metriklerle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birlikte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anlamlı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olduğunu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975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gösterir</a:t>
            </a:r>
            <a:r>
              <a:rPr sz="975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5CCF7CF-CAED-4AAD-9E44-C1CBC4385A64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34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2AE41A-0912-4C23-AA89-929BF7DD4AD0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AEB8C5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37697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>
            <a:extLst>
              <a:ext uri="{FF2B5EF4-FFF2-40B4-BE49-F238E27FC236}">
                <a16:creationId xmlns:a16="http://schemas.microsoft.com/office/drawing/2014/main" id="{D24816A7-BF85-4B2F-8762-EA2EFA6B1B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1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" name="kicker-18-marker">
            <a:extLst>
              <a:ext uri="{FF2B5EF4-FFF2-40B4-BE49-F238E27FC236}">
                <a16:creationId xmlns:a16="http://schemas.microsoft.com/office/drawing/2014/main" id="{81C8CA95-7B15-44AC-BA77-4132F1F07836}"/>
              </a:ext>
            </a:extLst>
          </p:cNvPr>
          <p:cNvSpPr>
            <a:spLocks noGrp="1"/>
          </p:cNvSpPr>
          <p:nvPr/>
        </p:nvSpPr>
        <p:spPr>
          <a:xfrm>
            <a:off x="552450" y="438150"/>
            <a:ext cx="400050" cy="28575"/>
          </a:xfrm>
          <a:prstGeom prst="rect">
            <a:avLst/>
          </a:prstGeom>
          <a:solidFill>
            <a:srgbClr val="C45A3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kicker-18-label">
            <a:extLst>
              <a:ext uri="{FF2B5EF4-FFF2-40B4-BE49-F238E27FC236}">
                <a16:creationId xmlns:a16="http://schemas.microsoft.com/office/drawing/2014/main" id="{DB24ED84-DCEB-4FA5-B191-C1A21E0B4CE7}"/>
              </a:ext>
            </a:extLst>
          </p:cNvPr>
          <p:cNvSpPr>
            <a:spLocks noGrp="1"/>
          </p:cNvSpPr>
          <p:nvPr/>
        </p:nvSpPr>
        <p:spPr>
          <a:xfrm>
            <a:off x="1085850" y="342900"/>
            <a:ext cx="361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750" b="1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A27B31-0BF4-44C8-BB06-A83352843F15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763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Soru-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cevap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için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en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 iyi </a:t>
            </a:r>
            <a:r>
              <a:rPr sz="2550" b="1" dirty="0" err="1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deneyle</a:t>
            </a:r>
            <a:r>
              <a:rPr lang="tr-TR"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r sıralaması</a:t>
            </a:r>
            <a:r>
              <a:rPr sz="2550" b="1" dirty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FD52A-1AFD-458C-8874-84C84D8EAE62}"/>
              </a:ext>
            </a:extLst>
          </p:cNvPr>
          <p:cNvSpPr>
            <a:spLocks noGrp="1"/>
          </p:cNvSpPr>
          <p:nvPr/>
        </p:nvSpPr>
        <p:spPr>
          <a:xfrm>
            <a:off x="571500" y="1676400"/>
            <a:ext cx="8572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endParaRPr sz="938" b="0" dirty="0">
              <a:solidFill>
                <a:srgbClr val="68717B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834664-C84E-4852-985E-1828F896E2E0}"/>
              </a:ext>
            </a:extLst>
          </p:cNvPr>
          <p:cNvSpPr>
            <a:spLocks noGrp="1"/>
          </p:cNvSpPr>
          <p:nvPr/>
        </p:nvSpPr>
        <p:spPr>
          <a:xfrm>
            <a:off x="781050" y="2276475"/>
            <a:ext cx="7581900" cy="314325"/>
          </a:xfrm>
          <a:prstGeom prst="rect">
            <a:avLst/>
          </a:prstGeom>
          <a:solidFill>
            <a:srgbClr val="11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25C6C-555D-4F9A-9440-F72A42114B8E}"/>
              </a:ext>
            </a:extLst>
          </p:cNvPr>
          <p:cNvSpPr>
            <a:spLocks noGrp="1"/>
          </p:cNvSpPr>
          <p:nvPr/>
        </p:nvSpPr>
        <p:spPr>
          <a:xfrm>
            <a:off x="857250" y="23241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B01E6D-B11F-4C68-B50E-BB5B17944179}"/>
              </a:ext>
            </a:extLst>
          </p:cNvPr>
          <p:cNvSpPr>
            <a:spLocks noGrp="1"/>
          </p:cNvSpPr>
          <p:nvPr/>
        </p:nvSpPr>
        <p:spPr>
          <a:xfrm>
            <a:off x="2667000" y="23241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Preprocess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CB9604-5334-41B9-B1A3-080720FCF69A}"/>
              </a:ext>
            </a:extLst>
          </p:cNvPr>
          <p:cNvSpPr>
            <a:spLocks noGrp="1"/>
          </p:cNvSpPr>
          <p:nvPr/>
        </p:nvSpPr>
        <p:spPr>
          <a:xfrm>
            <a:off x="4286250" y="23241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Acc.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4ED4B-4A68-49BE-819B-0258864A4FE9}"/>
              </a:ext>
            </a:extLst>
          </p:cNvPr>
          <p:cNvSpPr>
            <a:spLocks noGrp="1"/>
          </p:cNvSpPr>
          <p:nvPr/>
        </p:nvSpPr>
        <p:spPr>
          <a:xfrm>
            <a:off x="5086350" y="23241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F03B0E-F490-4AFC-AFCF-68B67C892C5E}"/>
              </a:ext>
            </a:extLst>
          </p:cNvPr>
          <p:cNvSpPr>
            <a:spLocks noGrp="1"/>
          </p:cNvSpPr>
          <p:nvPr/>
        </p:nvSpPr>
        <p:spPr>
          <a:xfrm>
            <a:off x="5886450" y="23241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Rec.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1420D7-B682-4F44-AFD4-B01740B6B204}"/>
              </a:ext>
            </a:extLst>
          </p:cNvPr>
          <p:cNvSpPr>
            <a:spLocks noGrp="1"/>
          </p:cNvSpPr>
          <p:nvPr/>
        </p:nvSpPr>
        <p:spPr>
          <a:xfrm>
            <a:off x="6686550" y="23241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64A1DB-7880-4EE7-875D-A053A3BCDC10}"/>
              </a:ext>
            </a:extLst>
          </p:cNvPr>
          <p:cNvSpPr>
            <a:spLocks noGrp="1"/>
          </p:cNvSpPr>
          <p:nvPr/>
        </p:nvSpPr>
        <p:spPr>
          <a:xfrm>
            <a:off x="7486650" y="23241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Time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F3C88E-DF8F-4037-864C-C0F3ADA801C5}"/>
              </a:ext>
            </a:extLst>
          </p:cNvPr>
          <p:cNvSpPr>
            <a:spLocks noGrp="1"/>
          </p:cNvSpPr>
          <p:nvPr/>
        </p:nvSpPr>
        <p:spPr>
          <a:xfrm>
            <a:off x="781050" y="291465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E2FC37-CEB5-44AA-9CA2-3DDA89786D4E}"/>
              </a:ext>
            </a:extLst>
          </p:cNvPr>
          <p:cNvSpPr>
            <a:spLocks noGrp="1"/>
          </p:cNvSpPr>
          <p:nvPr/>
        </p:nvSpPr>
        <p:spPr>
          <a:xfrm>
            <a:off x="857250" y="26479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LR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FA7938-9626-439D-A6AF-13BBF9581510}"/>
              </a:ext>
            </a:extLst>
          </p:cNvPr>
          <p:cNvSpPr>
            <a:spLocks noGrp="1"/>
          </p:cNvSpPr>
          <p:nvPr/>
        </p:nvSpPr>
        <p:spPr>
          <a:xfrm>
            <a:off x="2667000" y="26479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basic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94F622-1830-46EC-929B-73A7E05ECFFD}"/>
              </a:ext>
            </a:extLst>
          </p:cNvPr>
          <p:cNvSpPr>
            <a:spLocks noGrp="1"/>
          </p:cNvSpPr>
          <p:nvPr/>
        </p:nvSpPr>
        <p:spPr>
          <a:xfrm>
            <a:off x="4286250" y="26479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87.85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0E81BC-1EF0-488E-8D90-97F5223C36F3}"/>
              </a:ext>
            </a:extLst>
          </p:cNvPr>
          <p:cNvSpPr>
            <a:spLocks noGrp="1"/>
          </p:cNvSpPr>
          <p:nvPr/>
        </p:nvSpPr>
        <p:spPr>
          <a:xfrm>
            <a:off x="5086350" y="26479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87.74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C09D3-2C08-42F5-852E-5148A3C105DF}"/>
              </a:ext>
            </a:extLst>
          </p:cNvPr>
          <p:cNvSpPr>
            <a:spLocks noGrp="1"/>
          </p:cNvSpPr>
          <p:nvPr/>
        </p:nvSpPr>
        <p:spPr>
          <a:xfrm>
            <a:off x="5886450" y="26479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88.00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A94A03-8167-4B75-B815-34DD1F42BAFF}"/>
              </a:ext>
            </a:extLst>
          </p:cNvPr>
          <p:cNvSpPr>
            <a:spLocks noGrp="1"/>
          </p:cNvSpPr>
          <p:nvPr/>
        </p:nvSpPr>
        <p:spPr>
          <a:xfrm>
            <a:off x="6686550" y="26479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87.87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4FAA46-E45E-4C5C-B1E3-5574B32AD582}"/>
              </a:ext>
            </a:extLst>
          </p:cNvPr>
          <p:cNvSpPr>
            <a:spLocks noGrp="1"/>
          </p:cNvSpPr>
          <p:nvPr/>
        </p:nvSpPr>
        <p:spPr>
          <a:xfrm>
            <a:off x="7486650" y="26479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0.385s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CD4ABE-9136-426E-873A-49251D00BE93}"/>
              </a:ext>
            </a:extLst>
          </p:cNvPr>
          <p:cNvSpPr>
            <a:spLocks noGrp="1"/>
          </p:cNvSpPr>
          <p:nvPr/>
        </p:nvSpPr>
        <p:spPr>
          <a:xfrm>
            <a:off x="781050" y="323850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9516BD4-778F-4559-B7E4-799617720D0D}"/>
              </a:ext>
            </a:extLst>
          </p:cNvPr>
          <p:cNvSpPr>
            <a:spLocks noGrp="1"/>
          </p:cNvSpPr>
          <p:nvPr/>
        </p:nvSpPr>
        <p:spPr>
          <a:xfrm>
            <a:off x="857250" y="29718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LR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DF631D-0503-4809-BCE2-29861F589CE9}"/>
              </a:ext>
            </a:extLst>
          </p:cNvPr>
          <p:cNvSpPr>
            <a:spLocks noGrp="1"/>
          </p:cNvSpPr>
          <p:nvPr/>
        </p:nvSpPr>
        <p:spPr>
          <a:xfrm>
            <a:off x="2667000" y="29718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punctuation_removed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58A0031-E90C-47E5-9C9C-9A5C8844B763}"/>
              </a:ext>
            </a:extLst>
          </p:cNvPr>
          <p:cNvSpPr>
            <a:spLocks noGrp="1"/>
          </p:cNvSpPr>
          <p:nvPr/>
        </p:nvSpPr>
        <p:spPr>
          <a:xfrm>
            <a:off x="4286250" y="29718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87.85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53C7AB0-21E8-421B-A21E-91FFCBE072A7}"/>
              </a:ext>
            </a:extLst>
          </p:cNvPr>
          <p:cNvSpPr>
            <a:spLocks noGrp="1"/>
          </p:cNvSpPr>
          <p:nvPr/>
        </p:nvSpPr>
        <p:spPr>
          <a:xfrm>
            <a:off x="5086350" y="29718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87.74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60F5B4-FA08-4799-AFDE-C695E1BCD6BC}"/>
              </a:ext>
            </a:extLst>
          </p:cNvPr>
          <p:cNvSpPr>
            <a:spLocks noGrp="1"/>
          </p:cNvSpPr>
          <p:nvPr/>
        </p:nvSpPr>
        <p:spPr>
          <a:xfrm>
            <a:off x="5886450" y="29718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88.00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F6BF45-99C6-4E26-ACCE-FDF461164089}"/>
              </a:ext>
            </a:extLst>
          </p:cNvPr>
          <p:cNvSpPr>
            <a:spLocks noGrp="1"/>
          </p:cNvSpPr>
          <p:nvPr/>
        </p:nvSpPr>
        <p:spPr>
          <a:xfrm>
            <a:off x="6686550" y="29718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87.87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6FB1CE-8822-48BF-85BF-2D595CF0A6ED}"/>
              </a:ext>
            </a:extLst>
          </p:cNvPr>
          <p:cNvSpPr>
            <a:spLocks noGrp="1"/>
          </p:cNvSpPr>
          <p:nvPr/>
        </p:nvSpPr>
        <p:spPr>
          <a:xfrm>
            <a:off x="7486650" y="29718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0.385s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CDCA17-3DFF-455B-BEC9-9F886BCEDE5C}"/>
              </a:ext>
            </a:extLst>
          </p:cNvPr>
          <p:cNvSpPr>
            <a:spLocks noGrp="1"/>
          </p:cNvSpPr>
          <p:nvPr/>
        </p:nvSpPr>
        <p:spPr>
          <a:xfrm>
            <a:off x="781050" y="356235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EDF9781-A7E1-4442-AEFD-25C9B3E9CA52}"/>
              </a:ext>
            </a:extLst>
          </p:cNvPr>
          <p:cNvSpPr>
            <a:spLocks noGrp="1"/>
          </p:cNvSpPr>
          <p:nvPr/>
        </p:nvSpPr>
        <p:spPr>
          <a:xfrm>
            <a:off x="857250" y="32956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LR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0E9B30-7B01-4AB5-8C6E-E92E22D78E1F}"/>
              </a:ext>
            </a:extLst>
          </p:cNvPr>
          <p:cNvSpPr>
            <a:spLocks noGrp="1"/>
          </p:cNvSpPr>
          <p:nvPr/>
        </p:nvSpPr>
        <p:spPr>
          <a:xfrm>
            <a:off x="2667000" y="32956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no_lowercase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0734FC6-E3A8-41B8-A0B4-DAFC2C49DBCD}"/>
              </a:ext>
            </a:extLst>
          </p:cNvPr>
          <p:cNvSpPr>
            <a:spLocks noGrp="1"/>
          </p:cNvSpPr>
          <p:nvPr/>
        </p:nvSpPr>
        <p:spPr>
          <a:xfrm>
            <a:off x="4286250" y="32956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87.65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E36267-4B9D-4ECE-9EB2-1999873433C0}"/>
              </a:ext>
            </a:extLst>
          </p:cNvPr>
          <p:cNvSpPr>
            <a:spLocks noGrp="1"/>
          </p:cNvSpPr>
          <p:nvPr/>
        </p:nvSpPr>
        <p:spPr>
          <a:xfrm>
            <a:off x="5086350" y="32956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87.24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23BF25-9CC5-4151-91A2-4FEB238101DD}"/>
              </a:ext>
            </a:extLst>
          </p:cNvPr>
          <p:cNvSpPr>
            <a:spLocks noGrp="1"/>
          </p:cNvSpPr>
          <p:nvPr/>
        </p:nvSpPr>
        <p:spPr>
          <a:xfrm>
            <a:off x="5886450" y="32956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88.20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EAAD2AA-270F-43E4-81EA-506A2B1F38BC}"/>
              </a:ext>
            </a:extLst>
          </p:cNvPr>
          <p:cNvSpPr>
            <a:spLocks noGrp="1"/>
          </p:cNvSpPr>
          <p:nvPr/>
        </p:nvSpPr>
        <p:spPr>
          <a:xfrm>
            <a:off x="6686550" y="32956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87.72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5A328B-7071-498F-9E93-43AC3A2B3386}"/>
              </a:ext>
            </a:extLst>
          </p:cNvPr>
          <p:cNvSpPr>
            <a:spLocks noGrp="1"/>
          </p:cNvSpPr>
          <p:nvPr/>
        </p:nvSpPr>
        <p:spPr>
          <a:xfrm>
            <a:off x="7486650" y="32956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0.428s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91EB69A-88F5-4602-B7C3-3370EAB03D51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B8FE7C6-6DCA-4F75-9123-091D8429CA01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SVM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7E2BD8D-6F58-4C5B-8AFA-A42A21CB9FBE}"/>
              </a:ext>
            </a:extLst>
          </p:cNvPr>
          <p:cNvSpPr>
            <a:spLocks noGrp="1"/>
          </p:cNvSpPr>
          <p:nvPr/>
        </p:nvSpPr>
        <p:spPr>
          <a:xfrm>
            <a:off x="2667000" y="36195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no_lowercase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4579CB6-4D5A-43CE-AA99-5423625327E2}"/>
              </a:ext>
            </a:extLst>
          </p:cNvPr>
          <p:cNvSpPr>
            <a:spLocks noGrp="1"/>
          </p:cNvSpPr>
          <p:nvPr/>
        </p:nvSpPr>
        <p:spPr>
          <a:xfrm>
            <a:off x="4286250" y="36195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87.50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76DC9F5-F400-44AF-AA82-9991C8DF7084}"/>
              </a:ext>
            </a:extLst>
          </p:cNvPr>
          <p:cNvSpPr>
            <a:spLocks noGrp="1"/>
          </p:cNvSpPr>
          <p:nvPr/>
        </p:nvSpPr>
        <p:spPr>
          <a:xfrm>
            <a:off x="5086350" y="36195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88.27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5BA7DED-8A59-40DA-98EF-F0294CDDFAB1}"/>
              </a:ext>
            </a:extLst>
          </p:cNvPr>
          <p:cNvSpPr>
            <a:spLocks noGrp="1"/>
          </p:cNvSpPr>
          <p:nvPr/>
        </p:nvSpPr>
        <p:spPr>
          <a:xfrm>
            <a:off x="5886450" y="36195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86.50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489C2E3-354F-46D1-B45A-09754AFE7421}"/>
              </a:ext>
            </a:extLst>
          </p:cNvPr>
          <p:cNvSpPr>
            <a:spLocks noGrp="1"/>
          </p:cNvSpPr>
          <p:nvPr/>
        </p:nvSpPr>
        <p:spPr>
          <a:xfrm>
            <a:off x="6686550" y="36195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87.37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1E4B2EF-B17B-432F-BD02-F30D20B11141}"/>
              </a:ext>
            </a:extLst>
          </p:cNvPr>
          <p:cNvSpPr>
            <a:spLocks noGrp="1"/>
          </p:cNvSpPr>
          <p:nvPr/>
        </p:nvSpPr>
        <p:spPr>
          <a:xfrm>
            <a:off x="7486650" y="36195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0.410s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FA3455-7137-4FC3-961E-38441A8AFEA1}"/>
              </a:ext>
            </a:extLst>
          </p:cNvPr>
          <p:cNvSpPr>
            <a:spLocks noGrp="1"/>
          </p:cNvSpPr>
          <p:nvPr/>
        </p:nvSpPr>
        <p:spPr>
          <a:xfrm>
            <a:off x="781050" y="421005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1688444-F63B-4003-9B66-6DD74D3BBFF7}"/>
              </a:ext>
            </a:extLst>
          </p:cNvPr>
          <p:cNvSpPr>
            <a:spLocks noGrp="1"/>
          </p:cNvSpPr>
          <p:nvPr/>
        </p:nvSpPr>
        <p:spPr>
          <a:xfrm>
            <a:off x="857250" y="39433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SVM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83FC72-FF3F-4026-BCF6-2F826DCEEC66}"/>
              </a:ext>
            </a:extLst>
          </p:cNvPr>
          <p:cNvSpPr>
            <a:spLocks noGrp="1"/>
          </p:cNvSpPr>
          <p:nvPr/>
        </p:nvSpPr>
        <p:spPr>
          <a:xfrm>
            <a:off x="2667000" y="39433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punctuation_removed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2F677F-0352-40B4-8D76-865B1E1FB1D9}"/>
              </a:ext>
            </a:extLst>
          </p:cNvPr>
          <p:cNvSpPr>
            <a:spLocks noGrp="1"/>
          </p:cNvSpPr>
          <p:nvPr/>
        </p:nvSpPr>
        <p:spPr>
          <a:xfrm>
            <a:off x="4286250" y="39433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87.35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4DE5AB-4BDF-430E-B625-AF27427F2590}"/>
              </a:ext>
            </a:extLst>
          </p:cNvPr>
          <p:cNvSpPr>
            <a:spLocks noGrp="1"/>
          </p:cNvSpPr>
          <p:nvPr/>
        </p:nvSpPr>
        <p:spPr>
          <a:xfrm>
            <a:off x="5086350" y="39433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87.84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661B5AE-6186-481C-AD9F-FF6A3654788A}"/>
              </a:ext>
            </a:extLst>
          </p:cNvPr>
          <p:cNvSpPr>
            <a:spLocks noGrp="1"/>
          </p:cNvSpPr>
          <p:nvPr/>
        </p:nvSpPr>
        <p:spPr>
          <a:xfrm>
            <a:off x="5886450" y="39433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86.70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38DCB60-7376-4813-8AE1-53A34D032A82}"/>
              </a:ext>
            </a:extLst>
          </p:cNvPr>
          <p:cNvSpPr>
            <a:spLocks noGrp="1"/>
          </p:cNvSpPr>
          <p:nvPr/>
        </p:nvSpPr>
        <p:spPr>
          <a:xfrm>
            <a:off x="6686550" y="39433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87.27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2BA6C80-65AB-4949-80E3-72CAF4F1BCE3}"/>
              </a:ext>
            </a:extLst>
          </p:cNvPr>
          <p:cNvSpPr>
            <a:spLocks noGrp="1"/>
          </p:cNvSpPr>
          <p:nvPr/>
        </p:nvSpPr>
        <p:spPr>
          <a:xfrm>
            <a:off x="7486650" y="39433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0.395s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0C0A18A-59C9-4505-A341-758A2F313C6C}"/>
              </a:ext>
            </a:extLst>
          </p:cNvPr>
          <p:cNvSpPr>
            <a:spLocks noGrp="1"/>
          </p:cNvSpPr>
          <p:nvPr/>
        </p:nvSpPr>
        <p:spPr>
          <a:xfrm>
            <a:off x="781050" y="453390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57493F9-9F8F-4CE7-862F-6DB571237E08}"/>
              </a:ext>
            </a:extLst>
          </p:cNvPr>
          <p:cNvSpPr>
            <a:spLocks noGrp="1"/>
          </p:cNvSpPr>
          <p:nvPr/>
        </p:nvSpPr>
        <p:spPr>
          <a:xfrm>
            <a:off x="857250" y="42672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TF-IDF + NB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20864AD-E952-4BA8-8A4F-59DBD7C0291D}"/>
              </a:ext>
            </a:extLst>
          </p:cNvPr>
          <p:cNvSpPr>
            <a:spLocks noGrp="1"/>
          </p:cNvSpPr>
          <p:nvPr/>
        </p:nvSpPr>
        <p:spPr>
          <a:xfrm>
            <a:off x="2667000" y="42672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stopwords_removed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3614A5-C74D-4BA2-80D5-0D267104318D}"/>
              </a:ext>
            </a:extLst>
          </p:cNvPr>
          <p:cNvSpPr>
            <a:spLocks noGrp="1"/>
          </p:cNvSpPr>
          <p:nvPr/>
        </p:nvSpPr>
        <p:spPr>
          <a:xfrm>
            <a:off x="4286250" y="42672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86.50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A57A0F6-460F-48C2-AE4D-1B7295CC9539}"/>
              </a:ext>
            </a:extLst>
          </p:cNvPr>
          <p:cNvSpPr>
            <a:spLocks noGrp="1"/>
          </p:cNvSpPr>
          <p:nvPr/>
        </p:nvSpPr>
        <p:spPr>
          <a:xfrm>
            <a:off x="5086350" y="42672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89.08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3AEC50-9E70-45A7-AF31-80056DF666C8}"/>
              </a:ext>
            </a:extLst>
          </p:cNvPr>
          <p:cNvSpPr>
            <a:spLocks noGrp="1"/>
          </p:cNvSpPr>
          <p:nvPr/>
        </p:nvSpPr>
        <p:spPr>
          <a:xfrm>
            <a:off x="5886450" y="42672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83.20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8459681-71FA-46B1-AE5C-7A2E42B79774}"/>
              </a:ext>
            </a:extLst>
          </p:cNvPr>
          <p:cNvSpPr>
            <a:spLocks noGrp="1"/>
          </p:cNvSpPr>
          <p:nvPr/>
        </p:nvSpPr>
        <p:spPr>
          <a:xfrm>
            <a:off x="6686550" y="42672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86.04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CCC4085-78F9-473A-827A-E0E69F315737}"/>
              </a:ext>
            </a:extLst>
          </p:cNvPr>
          <p:cNvSpPr>
            <a:spLocks noGrp="1"/>
          </p:cNvSpPr>
          <p:nvPr/>
        </p:nvSpPr>
        <p:spPr>
          <a:xfrm>
            <a:off x="7486650" y="42672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0.273s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EDE845CD-FC9E-4C1B-952A-BF1836A2F81A}"/>
              </a:ext>
            </a:extLst>
          </p:cNvPr>
          <p:cNvSpPr>
            <a:spLocks noGrp="1"/>
          </p:cNvSpPr>
          <p:nvPr/>
        </p:nvSpPr>
        <p:spPr>
          <a:xfrm>
            <a:off x="781050" y="485775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26D1058-CFF0-4B29-9C82-CB210A303C7B}"/>
              </a:ext>
            </a:extLst>
          </p:cNvPr>
          <p:cNvSpPr>
            <a:spLocks noGrp="1"/>
          </p:cNvSpPr>
          <p:nvPr/>
        </p:nvSpPr>
        <p:spPr>
          <a:xfrm>
            <a:off x="857250" y="45910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TextCNN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F5D586F-109C-4A7C-994B-A2DE2D995DFB}"/>
              </a:ext>
            </a:extLst>
          </p:cNvPr>
          <p:cNvSpPr>
            <a:spLocks noGrp="1"/>
          </p:cNvSpPr>
          <p:nvPr/>
        </p:nvSpPr>
        <p:spPr>
          <a:xfrm>
            <a:off x="2667000" y="45910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no_lowercase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50246E-52DA-4B71-85DA-05C563D7C5E5}"/>
              </a:ext>
            </a:extLst>
          </p:cNvPr>
          <p:cNvSpPr>
            <a:spLocks noGrp="1"/>
          </p:cNvSpPr>
          <p:nvPr/>
        </p:nvSpPr>
        <p:spPr>
          <a:xfrm>
            <a:off x="4286250" y="45910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67.15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EAC0B8B-3C4C-45ED-A620-77E4A18D5EDD}"/>
              </a:ext>
            </a:extLst>
          </p:cNvPr>
          <p:cNvSpPr>
            <a:spLocks noGrp="1"/>
          </p:cNvSpPr>
          <p:nvPr/>
        </p:nvSpPr>
        <p:spPr>
          <a:xfrm>
            <a:off x="5086350" y="45910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61.85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76D5185-4C5F-4089-8EAC-387B72FE8B55}"/>
              </a:ext>
            </a:extLst>
          </p:cNvPr>
          <p:cNvSpPr>
            <a:spLocks noGrp="1"/>
          </p:cNvSpPr>
          <p:nvPr/>
        </p:nvSpPr>
        <p:spPr>
          <a:xfrm>
            <a:off x="5886450" y="45910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89.50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8C13857-1F3A-42F6-9E97-B96A91245AA5}"/>
              </a:ext>
            </a:extLst>
          </p:cNvPr>
          <p:cNvSpPr>
            <a:spLocks noGrp="1"/>
          </p:cNvSpPr>
          <p:nvPr/>
        </p:nvSpPr>
        <p:spPr>
          <a:xfrm>
            <a:off x="6686550" y="45910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73.15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672D92-870E-4487-9DE4-B8B8305F24A5}"/>
              </a:ext>
            </a:extLst>
          </p:cNvPr>
          <p:cNvSpPr>
            <a:spLocks noGrp="1"/>
          </p:cNvSpPr>
          <p:nvPr/>
        </p:nvSpPr>
        <p:spPr>
          <a:xfrm>
            <a:off x="7486650" y="45910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8.732s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B55F0A6-CBA3-44B6-AEA4-7FC2E9BBA31F}"/>
              </a:ext>
            </a:extLst>
          </p:cNvPr>
          <p:cNvSpPr>
            <a:spLocks noGrp="1"/>
          </p:cNvSpPr>
          <p:nvPr/>
        </p:nvSpPr>
        <p:spPr>
          <a:xfrm>
            <a:off x="781050" y="518160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AAA25CD-7A64-4AF0-83B0-AFE924FB4A42}"/>
              </a:ext>
            </a:extLst>
          </p:cNvPr>
          <p:cNvSpPr>
            <a:spLocks noGrp="1"/>
          </p:cNvSpPr>
          <p:nvPr/>
        </p:nvSpPr>
        <p:spPr>
          <a:xfrm>
            <a:off x="857250" y="49149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Embedding + Dense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25C16EB-F594-40FF-83BE-C9A867BEFDD6}"/>
              </a:ext>
            </a:extLst>
          </p:cNvPr>
          <p:cNvSpPr>
            <a:spLocks noGrp="1"/>
          </p:cNvSpPr>
          <p:nvPr/>
        </p:nvSpPr>
        <p:spPr>
          <a:xfrm>
            <a:off x="2667000" y="49149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punctuation_removed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993A05E-A2DF-4806-9586-A43D9BC4C2AD}"/>
              </a:ext>
            </a:extLst>
          </p:cNvPr>
          <p:cNvSpPr>
            <a:spLocks noGrp="1"/>
          </p:cNvSpPr>
          <p:nvPr/>
        </p:nvSpPr>
        <p:spPr>
          <a:xfrm>
            <a:off x="4286250" y="49149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61.55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E63FB32-AB94-46E0-863A-02C8A473E948}"/>
              </a:ext>
            </a:extLst>
          </p:cNvPr>
          <p:cNvSpPr>
            <a:spLocks noGrp="1"/>
          </p:cNvSpPr>
          <p:nvPr/>
        </p:nvSpPr>
        <p:spPr>
          <a:xfrm>
            <a:off x="5086350" y="49149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57.97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363D183-1AAC-4674-8327-CED49643E547}"/>
              </a:ext>
            </a:extLst>
          </p:cNvPr>
          <p:cNvSpPr>
            <a:spLocks noGrp="1"/>
          </p:cNvSpPr>
          <p:nvPr/>
        </p:nvSpPr>
        <p:spPr>
          <a:xfrm>
            <a:off x="5886450" y="49149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84.00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BD6AEE8-78E7-4B87-B8A2-2F4662B3478B}"/>
              </a:ext>
            </a:extLst>
          </p:cNvPr>
          <p:cNvSpPr>
            <a:spLocks noGrp="1"/>
          </p:cNvSpPr>
          <p:nvPr/>
        </p:nvSpPr>
        <p:spPr>
          <a:xfrm>
            <a:off x="6686550" y="49149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68.60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753A26A-F8AA-4633-B36C-0506A9C8D749}"/>
              </a:ext>
            </a:extLst>
          </p:cNvPr>
          <p:cNvSpPr>
            <a:spLocks noGrp="1"/>
          </p:cNvSpPr>
          <p:nvPr/>
        </p:nvSpPr>
        <p:spPr>
          <a:xfrm>
            <a:off x="7486650" y="49149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0.131s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74A6852-FD20-45FA-B172-35EBCFB38CF6}"/>
              </a:ext>
            </a:extLst>
          </p:cNvPr>
          <p:cNvSpPr>
            <a:spLocks noGrp="1"/>
          </p:cNvSpPr>
          <p:nvPr/>
        </p:nvSpPr>
        <p:spPr>
          <a:xfrm>
            <a:off x="781050" y="550545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7936046-60FD-4F18-93E1-694F390B87A9}"/>
              </a:ext>
            </a:extLst>
          </p:cNvPr>
          <p:cNvSpPr>
            <a:spLocks noGrp="1"/>
          </p:cNvSpPr>
          <p:nvPr/>
        </p:nvSpPr>
        <p:spPr>
          <a:xfrm>
            <a:off x="857250" y="52387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CNN + BiLSTM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0CA6B8-44D8-4BE8-8150-F9BA1C4159F1}"/>
              </a:ext>
            </a:extLst>
          </p:cNvPr>
          <p:cNvSpPr>
            <a:spLocks noGrp="1"/>
          </p:cNvSpPr>
          <p:nvPr/>
        </p:nvSpPr>
        <p:spPr>
          <a:xfrm>
            <a:off x="2667000" y="52387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no_lowercase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510191BE-0860-4998-89C9-E3D515A16841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55.35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990C8DA-622A-46A6-B3F5-9B58DEE45AA3}"/>
              </a:ext>
            </a:extLst>
          </p:cNvPr>
          <p:cNvSpPr>
            <a:spLocks noGrp="1"/>
          </p:cNvSpPr>
          <p:nvPr/>
        </p:nvSpPr>
        <p:spPr>
          <a:xfrm>
            <a:off x="5086350" y="52387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53.67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F31C61C9-2F02-49D5-87B5-D3D3D2A62E4A}"/>
              </a:ext>
            </a:extLst>
          </p:cNvPr>
          <p:cNvSpPr>
            <a:spLocks noGrp="1"/>
          </p:cNvSpPr>
          <p:nvPr/>
        </p:nvSpPr>
        <p:spPr>
          <a:xfrm>
            <a:off x="5886450" y="52387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78.20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3B26E44-D1EC-4DAA-86E1-01E0F7415AB1}"/>
              </a:ext>
            </a:extLst>
          </p:cNvPr>
          <p:cNvSpPr>
            <a:spLocks noGrp="1"/>
          </p:cNvSpPr>
          <p:nvPr/>
        </p:nvSpPr>
        <p:spPr>
          <a:xfrm>
            <a:off x="6686550" y="52387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63.65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34265A63-A308-479B-B587-BCBF9DC330B9}"/>
              </a:ext>
            </a:extLst>
          </p:cNvPr>
          <p:cNvSpPr>
            <a:spLocks noGrp="1"/>
          </p:cNvSpPr>
          <p:nvPr/>
        </p:nvSpPr>
        <p:spPr>
          <a:xfrm>
            <a:off x="7486650" y="523875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6.170s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D68DCDC-DCD2-45BC-B344-15E4696B0DA2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75819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4CCE16D3-6AD1-472D-A9CE-553E178EEA14}"/>
              </a:ext>
            </a:extLst>
          </p:cNvPr>
          <p:cNvSpPr>
            <a:spLocks noGrp="1"/>
          </p:cNvSpPr>
          <p:nvPr/>
        </p:nvSpPr>
        <p:spPr>
          <a:xfrm>
            <a:off x="857250" y="55626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BiLSTM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DB4EE06-3E3C-4880-83B8-90FDA88DAE71}"/>
              </a:ext>
            </a:extLst>
          </p:cNvPr>
          <p:cNvSpPr>
            <a:spLocks noGrp="1"/>
          </p:cNvSpPr>
          <p:nvPr/>
        </p:nvSpPr>
        <p:spPr>
          <a:xfrm>
            <a:off x="2667000" y="556260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 dirty="0" err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stopwords_removed</a:t>
            </a:r>
            <a:endParaRPr sz="675" b="0" dirty="0">
              <a:solidFill>
                <a:srgbClr val="111820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B666CC2-04ED-4D68-ADA7-BA3E2AC60E7D}"/>
              </a:ext>
            </a:extLst>
          </p:cNvPr>
          <p:cNvSpPr>
            <a:spLocks noGrp="1"/>
          </p:cNvSpPr>
          <p:nvPr/>
        </p:nvSpPr>
        <p:spPr>
          <a:xfrm>
            <a:off x="4286250" y="55626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57.05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CDC5F0-60D5-4684-B31C-BE37AD616296}"/>
              </a:ext>
            </a:extLst>
          </p:cNvPr>
          <p:cNvSpPr>
            <a:spLocks noGrp="1"/>
          </p:cNvSpPr>
          <p:nvPr/>
        </p:nvSpPr>
        <p:spPr>
          <a:xfrm>
            <a:off x="5086350" y="55626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56.84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E6D869E-606A-42AC-80E3-DA14C9211A93}"/>
              </a:ext>
            </a:extLst>
          </p:cNvPr>
          <p:cNvSpPr>
            <a:spLocks noGrp="1"/>
          </p:cNvSpPr>
          <p:nvPr/>
        </p:nvSpPr>
        <p:spPr>
          <a:xfrm>
            <a:off x="5886450" y="55626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58.60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074CF08-7D0A-4B05-984A-B8CBBA8A82EF}"/>
              </a:ext>
            </a:extLst>
          </p:cNvPr>
          <p:cNvSpPr>
            <a:spLocks noGrp="1"/>
          </p:cNvSpPr>
          <p:nvPr/>
        </p:nvSpPr>
        <p:spPr>
          <a:xfrm>
            <a:off x="6686550" y="55626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57.71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87E5849E-62E3-4D42-815C-44935499C7DF}"/>
              </a:ext>
            </a:extLst>
          </p:cNvPr>
          <p:cNvSpPr>
            <a:spLocks noGrp="1"/>
          </p:cNvSpPr>
          <p:nvPr/>
        </p:nvSpPr>
        <p:spPr>
          <a:xfrm>
            <a:off x="7486650" y="5562600"/>
            <a:ext cx="704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4.639s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349F882-BD25-4567-A4A8-CD7F150BF5B0}"/>
              </a:ext>
            </a:extLst>
          </p:cNvPr>
          <p:cNvSpPr>
            <a:spLocks noGrp="1"/>
          </p:cNvSpPr>
          <p:nvPr/>
        </p:nvSpPr>
        <p:spPr>
          <a:xfrm>
            <a:off x="552450" y="6324600"/>
            <a:ext cx="9525000" cy="9525"/>
          </a:xfrm>
          <a:prstGeom prst="rect">
            <a:avLst/>
          </a:prstGeom>
          <a:solidFill>
            <a:srgbClr val="D7D0C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412B554-2817-4F9C-8805-CC0AFA2EC20A}"/>
              </a:ext>
            </a:extLst>
          </p:cNvPr>
          <p:cNvSpPr>
            <a:spLocks noGrp="1"/>
          </p:cNvSpPr>
          <p:nvPr/>
        </p:nvSpPr>
        <p:spPr>
          <a:xfrm>
            <a:off x="11029950" y="6419850"/>
            <a:ext cx="476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68717B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7613973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1406</Words>
  <Application>Microsoft Macintosh PowerPoint</Application>
  <DocSecurity>0</DocSecurity>
  <PresentationFormat>Widescreen</PresentationFormat>
  <Paragraphs>323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 Mono</vt:lpstr>
      <vt:lpstr>Avenir Next</vt:lpstr>
      <vt:lpstr>Calibri</vt:lpstr>
      <vt:lpstr>Georgia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tunahan yalçın</cp:lastModifiedBy>
  <cp:revision>2</cp:revision>
  <dcterms:created xsi:type="dcterms:W3CDTF">2026-05-02T14:29:26Z</dcterms:created>
  <dcterms:modified xsi:type="dcterms:W3CDTF">2026-05-06T13:36:45Z</dcterms:modified>
</cp:coreProperties>
</file>